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oppins Semi-Bold" charset="1" panose="00000700000000000000"/>
      <p:regular r:id="rId28"/>
    </p:embeddedFont>
    <p:embeddedFont>
      <p:font typeface="Helvetica Now Display" charset="1" panose="020B0504030202020204"/>
      <p:regular r:id="rId29"/>
    </p:embeddedFont>
    <p:embeddedFont>
      <p:font typeface="Poppins" charset="1" panose="00000500000000000000"/>
      <p:regular r:id="rId30"/>
    </p:embeddedFont>
    <p:embeddedFont>
      <p:font typeface="Neue Montreal Bold" charset="1" panose="00000400000000000000"/>
      <p:regular r:id="rId31"/>
    </p:embeddedFont>
    <p:embeddedFont>
      <p:font typeface="Wellfleet" charset="1" panose="02040503050600060704"/>
      <p:regular r:id="rId32"/>
    </p:embeddedFont>
    <p:embeddedFont>
      <p:font typeface="Pompiere" charset="1" panose="02000000000000000000"/>
      <p:regular r:id="rId33"/>
    </p:embeddedFont>
    <p:embeddedFont>
      <p:font typeface="Koho" charset="1" panose="00000500000000000000"/>
      <p:regular r:id="rId34"/>
    </p:embeddedFont>
    <p:embeddedFont>
      <p:font typeface="Neo Tech Bold" charset="1" panose="020B0804030504040204"/>
      <p:regular r:id="rId35"/>
    </p:embeddedFont>
    <p:embeddedFont>
      <p:font typeface="Koho Italics" charset="1" panose="00000500000000000000"/>
      <p:regular r:id="rId36"/>
    </p:embeddedFont>
    <p:embeddedFont>
      <p:font typeface="Nunito Sans Expanded Ultra-Bold" charset="1" panose="00000000000000000000"/>
      <p:regular r:id="rId37"/>
    </p:embeddedFont>
    <p:embeddedFont>
      <p:font typeface="Telegraf Ultra-Bold" charset="1" panose="00000900000000000000"/>
      <p:regular r:id="rId38"/>
    </p:embeddedFont>
    <p:embeddedFont>
      <p:font typeface="Telegraf" charset="1" panose="00000500000000000000"/>
      <p:regular r:id="rId39"/>
    </p:embeddedFont>
    <p:embeddedFont>
      <p:font typeface="Telegraf Bold" charset="1" panose="00000800000000000000"/>
      <p:regular r:id="rId40"/>
    </p:embeddedFont>
    <p:embeddedFont>
      <p:font typeface="Open Sans 2 Bold" charset="1" panose="00000000000000000000"/>
      <p:regular r:id="rId41"/>
    </p:embeddedFont>
    <p:embeddedFont>
      <p:font typeface="Open Sans 2" charset="1" panose="00000000000000000000"/>
      <p:regular r:id="rId42"/>
    </p:embeddedFont>
    <p:embeddedFont>
      <p:font typeface="Garet Bold" charset="1" panose="00000000000000000000"/>
      <p:regular r:id="rId43"/>
    </p:embeddedFont>
    <p:embeddedFont>
      <p:font typeface="TT Hoves Bold" charset="1" panose="02000003020000060003"/>
      <p:regular r:id="rId44"/>
    </p:embeddedFont>
    <p:embeddedFont>
      <p:font typeface="TT Hoves" charset="1" panose="02000003020000060003"/>
      <p:regular r:id="rId45"/>
    </p:embeddedFont>
    <p:embeddedFont>
      <p:font typeface="Open Sauce Bold" charset="1" panose="00000800000000000000"/>
      <p:regular r:id="rId46"/>
    </p:embeddedFont>
    <p:embeddedFont>
      <p:font typeface="Open Sauce" charset="1" panose="00000500000000000000"/>
      <p:regular r:id="rId47"/>
    </p:embeddedFont>
    <p:embeddedFont>
      <p:font typeface="Cooper Hewitt" charset="1" panose="00000000000000000000"/>
      <p:regular r:id="rId48"/>
    </p:embeddedFont>
    <p:embeddedFont>
      <p:font typeface="Cooper Hewitt Bold" charset="1" panose="00000000000000000000"/>
      <p:regular r:id="rId49"/>
    </p:embeddedFont>
    <p:embeddedFont>
      <p:font typeface="Canva Sans" charset="1" panose="020B0503030501040103"/>
      <p:regular r:id="rId50"/>
    </p:embeddedFont>
    <p:embeddedFont>
      <p:font typeface="Helvetica World" charset="1" panose="020B0500040000020004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39.png" Type="http://schemas.openxmlformats.org/officeDocument/2006/relationships/image"/><Relationship Id="rId2" Target="../media/image22.png" Type="http://schemas.openxmlformats.org/officeDocument/2006/relationships/image"/><Relationship Id="rId20" Target="../media/image40.svg" Type="http://schemas.openxmlformats.org/officeDocument/2006/relationships/image"/><Relationship Id="rId21" Target="../media/image41.png" Type="http://schemas.openxmlformats.org/officeDocument/2006/relationships/image"/><Relationship Id="rId22" Target="../media/image42.svg" Type="http://schemas.openxmlformats.org/officeDocument/2006/relationships/image"/><Relationship Id="rId23" Target="../media/image43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5.pn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7.pn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svg" Type="http://schemas.openxmlformats.org/officeDocument/2006/relationships/image"/><Relationship Id="rId11" Target="../media/image84.png" Type="http://schemas.openxmlformats.org/officeDocument/2006/relationships/image"/><Relationship Id="rId12" Target="../media/image85.svg" Type="http://schemas.openxmlformats.org/officeDocument/2006/relationships/image"/><Relationship Id="rId13" Target="../media/image86.png" Type="http://schemas.openxmlformats.org/officeDocument/2006/relationships/image"/><Relationship Id="rId14" Target="../media/image87.svg" Type="http://schemas.openxmlformats.org/officeDocument/2006/relationships/image"/><Relationship Id="rId2" Target="../media/image75.png" Type="http://schemas.openxmlformats.org/officeDocument/2006/relationships/image"/><Relationship Id="rId3" Target="../media/image76.png" Type="http://schemas.openxmlformats.org/officeDocument/2006/relationships/image"/><Relationship Id="rId4" Target="../media/image77.svg" Type="http://schemas.openxmlformats.org/officeDocument/2006/relationships/image"/><Relationship Id="rId5" Target="../media/image78.png" Type="http://schemas.openxmlformats.org/officeDocument/2006/relationships/image"/><Relationship Id="rId6" Target="../media/image79.svg" Type="http://schemas.openxmlformats.org/officeDocument/2006/relationships/image"/><Relationship Id="rId7" Target="../media/image80.png" Type="http://schemas.openxmlformats.org/officeDocument/2006/relationships/image"/><Relationship Id="rId8" Target="../media/image81.sv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8.png" Type="http://schemas.openxmlformats.org/officeDocument/2006/relationships/image"/><Relationship Id="rId3" Target="../media/image89.png" Type="http://schemas.openxmlformats.org/officeDocument/2006/relationships/image"/><Relationship Id="rId4" Target="../media/image90.png" Type="http://schemas.openxmlformats.org/officeDocument/2006/relationships/image"/><Relationship Id="rId5" Target="../media/image91.pn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Relationship Id="rId3" Target="../media/image98.png" Type="http://schemas.openxmlformats.org/officeDocument/2006/relationships/image"/><Relationship Id="rId4" Target="../media/image9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201267">
            <a:off x="7889521" y="-566483"/>
            <a:ext cx="15549511" cy="8007998"/>
          </a:xfrm>
          <a:custGeom>
            <a:avLst/>
            <a:gdLst/>
            <a:ahLst/>
            <a:cxnLst/>
            <a:rect r="r" b="b" t="t" l="l"/>
            <a:pathLst>
              <a:path h="8007998" w="15549511">
                <a:moveTo>
                  <a:pt x="0" y="0"/>
                </a:moveTo>
                <a:lnTo>
                  <a:pt x="15549511" y="0"/>
                </a:lnTo>
                <a:lnTo>
                  <a:pt x="15549511" y="8007998"/>
                </a:lnTo>
                <a:lnTo>
                  <a:pt x="0" y="8007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831579" cy="775952"/>
          </a:xfrm>
          <a:custGeom>
            <a:avLst/>
            <a:gdLst/>
            <a:ahLst/>
            <a:cxnLst/>
            <a:rect r="r" b="b" t="t" l="l"/>
            <a:pathLst>
              <a:path h="775952" w="831579">
                <a:moveTo>
                  <a:pt x="0" y="0"/>
                </a:moveTo>
                <a:lnTo>
                  <a:pt x="831579" y="0"/>
                </a:lnTo>
                <a:lnTo>
                  <a:pt x="831579" y="775952"/>
                </a:lnTo>
                <a:lnTo>
                  <a:pt x="0" y="775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5938058"/>
            <a:ext cx="9777014" cy="292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20"/>
              </a:lnSpc>
            </a:pPr>
            <a:r>
              <a:rPr lang="en-US" b="true" sz="8133" spc="-488">
                <a:solidFill>
                  <a:srgbClr val="032853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I Learned in My First Five Days as an Engineering Intern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19695" y="8580120"/>
            <a:ext cx="5339605" cy="17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1"/>
              </a:lnSpc>
            </a:pPr>
            <a:r>
              <a:rPr lang="en-US" sz="1355">
                <a:solidFill>
                  <a:srgbClr val="032853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Project: Week 1 Learnings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27225" y="1637797"/>
            <a:ext cx="2413620" cy="56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3"/>
              </a:lnSpc>
            </a:pPr>
            <a:r>
              <a:rPr lang="en-US" sz="2259" spc="-90">
                <a:solidFill>
                  <a:srgbClr val="032853"/>
                </a:solidFill>
                <a:latin typeface="Poppins"/>
                <a:ea typeface="Poppins"/>
                <a:cs typeface="Poppins"/>
                <a:sym typeface="Poppins"/>
              </a:rPr>
              <a:t>Software Engineering Intern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5253" y="1201586"/>
            <a:ext cx="2349082" cy="24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954">
                <a:solidFill>
                  <a:srgbClr val="03285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Rohit Raj Singh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DD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5532" y="-747359"/>
            <a:ext cx="5344422" cy="4202052"/>
          </a:xfrm>
          <a:custGeom>
            <a:avLst/>
            <a:gdLst/>
            <a:ahLst/>
            <a:cxnLst/>
            <a:rect r="r" b="b" t="t" l="l"/>
            <a:pathLst>
              <a:path h="4202052" w="5344422">
                <a:moveTo>
                  <a:pt x="0" y="0"/>
                </a:moveTo>
                <a:lnTo>
                  <a:pt x="5344423" y="0"/>
                </a:lnTo>
                <a:lnTo>
                  <a:pt x="5344423" y="4202052"/>
                </a:lnTo>
                <a:lnTo>
                  <a:pt x="0" y="420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21930" y="6558716"/>
            <a:ext cx="7977824" cy="5026029"/>
          </a:xfrm>
          <a:custGeom>
            <a:avLst/>
            <a:gdLst/>
            <a:ahLst/>
            <a:cxnLst/>
            <a:rect r="r" b="b" t="t" l="l"/>
            <a:pathLst>
              <a:path h="5026029" w="7977824">
                <a:moveTo>
                  <a:pt x="0" y="0"/>
                </a:moveTo>
                <a:lnTo>
                  <a:pt x="7977824" y="0"/>
                </a:lnTo>
                <a:lnTo>
                  <a:pt x="7977824" y="5026030"/>
                </a:lnTo>
                <a:lnTo>
                  <a:pt x="0" y="5026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52808" y="6905147"/>
            <a:ext cx="7053316" cy="5580936"/>
          </a:xfrm>
          <a:custGeom>
            <a:avLst/>
            <a:gdLst/>
            <a:ahLst/>
            <a:cxnLst/>
            <a:rect r="r" b="b" t="t" l="l"/>
            <a:pathLst>
              <a:path h="5580936" w="7053316">
                <a:moveTo>
                  <a:pt x="0" y="0"/>
                </a:moveTo>
                <a:lnTo>
                  <a:pt x="7053316" y="0"/>
                </a:lnTo>
                <a:lnTo>
                  <a:pt x="7053316" y="5580937"/>
                </a:lnTo>
                <a:lnTo>
                  <a:pt x="0" y="5580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80150">
            <a:off x="-1420529" y="-2712985"/>
            <a:ext cx="7902991" cy="6371787"/>
          </a:xfrm>
          <a:custGeom>
            <a:avLst/>
            <a:gdLst/>
            <a:ahLst/>
            <a:cxnLst/>
            <a:rect r="r" b="b" t="t" l="l"/>
            <a:pathLst>
              <a:path h="6371787" w="7902991">
                <a:moveTo>
                  <a:pt x="0" y="0"/>
                </a:moveTo>
                <a:lnTo>
                  <a:pt x="7902991" y="0"/>
                </a:lnTo>
                <a:lnTo>
                  <a:pt x="7902991" y="6371786"/>
                </a:lnTo>
                <a:lnTo>
                  <a:pt x="0" y="63717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02607" y="2356575"/>
            <a:ext cx="11482787" cy="468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13"/>
              </a:lnSpc>
            </a:pPr>
            <a:r>
              <a:rPr lang="en-US" sz="9395">
                <a:solidFill>
                  <a:srgbClr val="103A22"/>
                </a:solidFill>
                <a:latin typeface="Wellfleet"/>
                <a:ea typeface="Wellfleet"/>
                <a:cs typeface="Wellfleet"/>
                <a:sym typeface="Wellfleet"/>
              </a:rPr>
              <a:t>Day 1</a:t>
            </a:r>
          </a:p>
          <a:p>
            <a:pPr algn="ctr" marL="0" indent="0" lvl="0">
              <a:lnSpc>
                <a:spcPts val="9113"/>
              </a:lnSpc>
            </a:pPr>
            <a:r>
              <a:rPr lang="en-US" sz="9395">
                <a:solidFill>
                  <a:srgbClr val="103A22"/>
                </a:solidFill>
                <a:latin typeface="Wellfleet"/>
                <a:ea typeface="Wellfleet"/>
                <a:cs typeface="Wellfleet"/>
                <a:sym typeface="Wellfleet"/>
              </a:rPr>
              <a:t>Engineering &amp;</a:t>
            </a:r>
          </a:p>
          <a:p>
            <a:pPr algn="ctr" marL="0" indent="0" lvl="0">
              <a:lnSpc>
                <a:spcPts val="9113"/>
              </a:lnSpc>
            </a:pPr>
            <a:r>
              <a:rPr lang="en-US" sz="9395">
                <a:solidFill>
                  <a:srgbClr val="103A22"/>
                </a:solidFill>
                <a:latin typeface="Wellfleet"/>
                <a:ea typeface="Wellfleet"/>
                <a:cs typeface="Wellfleet"/>
                <a:sym typeface="Wellfleet"/>
              </a:rPr>
              <a:t>Product Foundation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222323" y="-2075893"/>
            <a:ext cx="4577294" cy="4548686"/>
          </a:xfrm>
          <a:custGeom>
            <a:avLst/>
            <a:gdLst/>
            <a:ahLst/>
            <a:cxnLst/>
            <a:rect r="r" b="b" t="t" l="l"/>
            <a:pathLst>
              <a:path h="4548686" w="4577294">
                <a:moveTo>
                  <a:pt x="0" y="0"/>
                </a:moveTo>
                <a:lnTo>
                  <a:pt x="4577295" y="0"/>
                </a:lnTo>
                <a:lnTo>
                  <a:pt x="4577295" y="4548687"/>
                </a:lnTo>
                <a:lnTo>
                  <a:pt x="0" y="45486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35390" y="8099502"/>
            <a:ext cx="4654032" cy="4400060"/>
          </a:xfrm>
          <a:custGeom>
            <a:avLst/>
            <a:gdLst/>
            <a:ahLst/>
            <a:cxnLst/>
            <a:rect r="r" b="b" t="t" l="l"/>
            <a:pathLst>
              <a:path h="4400060" w="4654032">
                <a:moveTo>
                  <a:pt x="0" y="0"/>
                </a:moveTo>
                <a:lnTo>
                  <a:pt x="4654032" y="0"/>
                </a:lnTo>
                <a:lnTo>
                  <a:pt x="4654032" y="4400061"/>
                </a:lnTo>
                <a:lnTo>
                  <a:pt x="0" y="44000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781895" y="2186728"/>
            <a:ext cx="5030155" cy="4747209"/>
          </a:xfrm>
          <a:custGeom>
            <a:avLst/>
            <a:gdLst/>
            <a:ahLst/>
            <a:cxnLst/>
            <a:rect r="r" b="b" t="t" l="l"/>
            <a:pathLst>
              <a:path h="4747209" w="5030155">
                <a:moveTo>
                  <a:pt x="0" y="0"/>
                </a:moveTo>
                <a:lnTo>
                  <a:pt x="5030155" y="0"/>
                </a:lnTo>
                <a:lnTo>
                  <a:pt x="5030155" y="4747209"/>
                </a:lnTo>
                <a:lnTo>
                  <a:pt x="0" y="47472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03105" y="3778414"/>
            <a:ext cx="3139241" cy="2855670"/>
          </a:xfrm>
          <a:custGeom>
            <a:avLst/>
            <a:gdLst/>
            <a:ahLst/>
            <a:cxnLst/>
            <a:rect r="r" b="b" t="t" l="l"/>
            <a:pathLst>
              <a:path h="2855670" w="3139241">
                <a:moveTo>
                  <a:pt x="0" y="0"/>
                </a:moveTo>
                <a:lnTo>
                  <a:pt x="3139241" y="0"/>
                </a:lnTo>
                <a:lnTo>
                  <a:pt x="3139241" y="2855670"/>
                </a:lnTo>
                <a:lnTo>
                  <a:pt x="0" y="2855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31826" y="8601767"/>
            <a:ext cx="3298880" cy="2575773"/>
          </a:xfrm>
          <a:custGeom>
            <a:avLst/>
            <a:gdLst/>
            <a:ahLst/>
            <a:cxnLst/>
            <a:rect r="r" b="b" t="t" l="l"/>
            <a:pathLst>
              <a:path h="2575773" w="3298880">
                <a:moveTo>
                  <a:pt x="0" y="0"/>
                </a:moveTo>
                <a:lnTo>
                  <a:pt x="3298880" y="0"/>
                </a:lnTo>
                <a:lnTo>
                  <a:pt x="3298880" y="2575774"/>
                </a:lnTo>
                <a:lnTo>
                  <a:pt x="0" y="2575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29301" y="6860235"/>
            <a:ext cx="8829398" cy="954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48"/>
              </a:lnSpc>
            </a:pPr>
            <a:r>
              <a:rPr lang="en-US" sz="5534" spc="60">
                <a:solidFill>
                  <a:srgbClr val="0E0F10"/>
                </a:solidFill>
                <a:latin typeface="Pompiere"/>
                <a:ea typeface="Pompiere"/>
                <a:cs typeface="Pompiere"/>
                <a:sym typeface="Pompiere"/>
              </a:rPr>
              <a:t>Software Development Learning Journey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DD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5241" y="1565296"/>
            <a:ext cx="10517519" cy="50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0"/>
              </a:lnSpc>
            </a:pPr>
            <a:r>
              <a:rPr lang="en-US" sz="3939">
                <a:solidFill>
                  <a:srgbClr val="103A22"/>
                </a:solidFill>
                <a:latin typeface="Wellfleet"/>
                <a:ea typeface="Wellfleet"/>
                <a:cs typeface="Wellfleet"/>
                <a:sym typeface="Wellfleet"/>
              </a:rPr>
              <a:t>Day 1 – Engineering &amp; Product Foundation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17904" y="-553668"/>
            <a:ext cx="3549009" cy="3096510"/>
          </a:xfrm>
          <a:custGeom>
            <a:avLst/>
            <a:gdLst/>
            <a:ahLst/>
            <a:cxnLst/>
            <a:rect r="r" b="b" t="t" l="l"/>
            <a:pathLst>
              <a:path h="3096510" w="3549009">
                <a:moveTo>
                  <a:pt x="0" y="0"/>
                </a:moveTo>
                <a:lnTo>
                  <a:pt x="3549009" y="0"/>
                </a:lnTo>
                <a:lnTo>
                  <a:pt x="3549009" y="3096510"/>
                </a:lnTo>
                <a:lnTo>
                  <a:pt x="0" y="3096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843882">
            <a:off x="13179369" y="-1465214"/>
            <a:ext cx="6719848" cy="3855513"/>
          </a:xfrm>
          <a:custGeom>
            <a:avLst/>
            <a:gdLst/>
            <a:ahLst/>
            <a:cxnLst/>
            <a:rect r="r" b="b" t="t" l="l"/>
            <a:pathLst>
              <a:path h="3855513" w="6719848">
                <a:moveTo>
                  <a:pt x="0" y="0"/>
                </a:moveTo>
                <a:lnTo>
                  <a:pt x="6719848" y="0"/>
                </a:lnTo>
                <a:lnTo>
                  <a:pt x="6719848" y="3855513"/>
                </a:lnTo>
                <a:lnTo>
                  <a:pt x="0" y="3855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294959">
            <a:off x="-1223670" y="7015718"/>
            <a:ext cx="3149559" cy="3234428"/>
          </a:xfrm>
          <a:custGeom>
            <a:avLst/>
            <a:gdLst/>
            <a:ahLst/>
            <a:cxnLst/>
            <a:rect r="r" b="b" t="t" l="l"/>
            <a:pathLst>
              <a:path h="3234428" w="3149559">
                <a:moveTo>
                  <a:pt x="0" y="0"/>
                </a:moveTo>
                <a:lnTo>
                  <a:pt x="3149559" y="0"/>
                </a:lnTo>
                <a:lnTo>
                  <a:pt x="3149559" y="3234427"/>
                </a:lnTo>
                <a:lnTo>
                  <a:pt x="0" y="3234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532803" y="2513920"/>
            <a:ext cx="13222394" cy="6245122"/>
            <a:chOff x="0" y="0"/>
            <a:chExt cx="3482441" cy="1644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82441" cy="1644806"/>
            </a:xfrm>
            <a:custGeom>
              <a:avLst/>
              <a:gdLst/>
              <a:ahLst/>
              <a:cxnLst/>
              <a:rect r="r" b="b" t="t" l="l"/>
              <a:pathLst>
                <a:path h="1644806" w="3482441">
                  <a:moveTo>
                    <a:pt x="0" y="0"/>
                  </a:moveTo>
                  <a:lnTo>
                    <a:pt x="3482441" y="0"/>
                  </a:lnTo>
                  <a:lnTo>
                    <a:pt x="3482441" y="1644806"/>
                  </a:lnTo>
                  <a:lnTo>
                    <a:pt x="0" y="1644806"/>
                  </a:lnTo>
                  <a:close/>
                </a:path>
              </a:pathLst>
            </a:custGeom>
            <a:solidFill>
              <a:srgbClr val="103A2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82441" cy="1682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10496968">
            <a:off x="11806145" y="8526853"/>
            <a:ext cx="8100017" cy="6267388"/>
          </a:xfrm>
          <a:custGeom>
            <a:avLst/>
            <a:gdLst/>
            <a:ahLst/>
            <a:cxnLst/>
            <a:rect r="r" b="b" t="t" l="l"/>
            <a:pathLst>
              <a:path h="6267388" w="8100017">
                <a:moveTo>
                  <a:pt x="0" y="0"/>
                </a:moveTo>
                <a:lnTo>
                  <a:pt x="8100018" y="0"/>
                </a:lnTo>
                <a:lnTo>
                  <a:pt x="8100018" y="6267388"/>
                </a:lnTo>
                <a:lnTo>
                  <a:pt x="0" y="62673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06871" y="3232926"/>
            <a:ext cx="5071498" cy="4513634"/>
          </a:xfrm>
          <a:custGeom>
            <a:avLst/>
            <a:gdLst/>
            <a:ahLst/>
            <a:cxnLst/>
            <a:rect r="r" b="b" t="t" l="l"/>
            <a:pathLst>
              <a:path h="4513634" w="5071498">
                <a:moveTo>
                  <a:pt x="0" y="0"/>
                </a:moveTo>
                <a:lnTo>
                  <a:pt x="5071499" y="0"/>
                </a:lnTo>
                <a:lnTo>
                  <a:pt x="5071499" y="4513634"/>
                </a:lnTo>
                <a:lnTo>
                  <a:pt x="0" y="45136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45243" y="8728207"/>
            <a:ext cx="4122460" cy="3932021"/>
          </a:xfrm>
          <a:custGeom>
            <a:avLst/>
            <a:gdLst/>
            <a:ahLst/>
            <a:cxnLst/>
            <a:rect r="r" b="b" t="t" l="l"/>
            <a:pathLst>
              <a:path h="3932021" w="4122460">
                <a:moveTo>
                  <a:pt x="0" y="0"/>
                </a:moveTo>
                <a:lnTo>
                  <a:pt x="4122460" y="0"/>
                </a:lnTo>
                <a:lnTo>
                  <a:pt x="4122460" y="3932021"/>
                </a:lnTo>
                <a:lnTo>
                  <a:pt x="0" y="39320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41420" y="1927995"/>
            <a:ext cx="5278655" cy="4645216"/>
          </a:xfrm>
          <a:custGeom>
            <a:avLst/>
            <a:gdLst/>
            <a:ahLst/>
            <a:cxnLst/>
            <a:rect r="r" b="b" t="t" l="l"/>
            <a:pathLst>
              <a:path h="4645216" w="5278655">
                <a:moveTo>
                  <a:pt x="0" y="0"/>
                </a:moveTo>
                <a:lnTo>
                  <a:pt x="5278655" y="0"/>
                </a:lnTo>
                <a:lnTo>
                  <a:pt x="5278655" y="4645217"/>
                </a:lnTo>
                <a:lnTo>
                  <a:pt x="0" y="46452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08358" y="-1975468"/>
            <a:ext cx="2461376" cy="2926828"/>
          </a:xfrm>
          <a:custGeom>
            <a:avLst/>
            <a:gdLst/>
            <a:ahLst/>
            <a:cxnLst/>
            <a:rect r="r" b="b" t="t" l="l"/>
            <a:pathLst>
              <a:path h="2926828" w="2461376">
                <a:moveTo>
                  <a:pt x="0" y="0"/>
                </a:moveTo>
                <a:lnTo>
                  <a:pt x="2461376" y="0"/>
                </a:lnTo>
                <a:lnTo>
                  <a:pt x="2461376" y="2926828"/>
                </a:lnTo>
                <a:lnTo>
                  <a:pt x="0" y="29268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26893" y="2768524"/>
            <a:ext cx="12719036" cy="223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</a:pPr>
            <a:r>
              <a:rPr lang="en-US" sz="3197" spc="35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What I Learned:</a:t>
            </a:r>
          </a:p>
          <a:p>
            <a:pPr algn="l" marL="0" indent="0" lvl="0">
              <a:lnSpc>
                <a:spcPts val="4476"/>
              </a:lnSpc>
            </a:pPr>
            <a:r>
              <a:rPr lang="en-US" sz="3197" spc="35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• Software Engineering   • Product vs Project   • SDLC   • Agile Development   • MVP</a:t>
            </a:r>
          </a:p>
          <a:p>
            <a:pPr algn="l" marL="0" indent="0" lvl="0">
              <a:lnSpc>
                <a:spcPts val="4476"/>
              </a:lnSpc>
            </a:pPr>
            <a:r>
              <a:rPr lang="en-US" sz="3197" spc="35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• Frontend, Backend &amp; Database   • REST API   • QA &amp; DevOps</a:t>
            </a:r>
          </a:p>
          <a:p>
            <a:pPr algn="l" marL="0" indent="0" lvl="0">
              <a:lnSpc>
                <a:spcPts val="4476"/>
              </a:lnSpc>
            </a:pPr>
            <a:r>
              <a:rPr lang="en-US" sz="3197" spc="35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• Cloud Infrastructure   • Authentication &amp; Authorization   • Documentation &amp; Code Review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26893" y="5658362"/>
            <a:ext cx="12719036" cy="223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</a:pPr>
            <a:r>
              <a:rPr lang="en-US" sz="3197" spc="35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Key Learning:</a:t>
            </a:r>
          </a:p>
          <a:p>
            <a:pPr algn="l" marL="0" indent="0" lvl="0">
              <a:lnSpc>
                <a:spcPts val="4476"/>
              </a:lnSpc>
            </a:pPr>
            <a:r>
              <a:rPr lang="en-US" sz="3197" spc="35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"Software development is a complete process, not just writing code."</a:t>
            </a:r>
          </a:p>
          <a:p>
            <a:pPr algn="l" marL="0" indent="0" lvl="0">
              <a:lnSpc>
                <a:spcPts val="4476"/>
              </a:lnSpc>
            </a:pPr>
            <a:r>
              <a:rPr lang="en-US" sz="3197" spc="35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From planning and design to testing, deployment, and documentation — every phase matters. Engineering is about building systems that are scalable, maintainable, and collaborative.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4865" y="3932056"/>
            <a:ext cx="675520" cy="812546"/>
            <a:chOff x="0" y="0"/>
            <a:chExt cx="812800" cy="9776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977672"/>
            </a:xfrm>
            <a:custGeom>
              <a:avLst/>
              <a:gdLst/>
              <a:ahLst/>
              <a:cxnLst/>
              <a:rect r="r" b="b" t="t" l="l"/>
              <a:pathLst>
                <a:path h="977672" w="812800">
                  <a:moveTo>
                    <a:pt x="406400" y="977672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977672"/>
                  </a:lnTo>
                  <a:close/>
                </a:path>
              </a:pathLst>
            </a:custGeom>
            <a:solidFill>
              <a:srgbClr val="2152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50784"/>
              <a:ext cx="558800" cy="4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7312" y="3264341"/>
            <a:ext cx="1190625" cy="11906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EFF"/>
            </a:solidFill>
            <a:ln w="142875" cap="sq">
              <a:solidFill>
                <a:srgbClr val="29888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25112" y="4935102"/>
            <a:ext cx="1455025" cy="818452"/>
          </a:xfrm>
          <a:custGeom>
            <a:avLst/>
            <a:gdLst/>
            <a:ahLst/>
            <a:cxnLst/>
            <a:rect r="r" b="b" t="t" l="l"/>
            <a:pathLst>
              <a:path h="818452" w="1455025">
                <a:moveTo>
                  <a:pt x="0" y="0"/>
                </a:moveTo>
                <a:lnTo>
                  <a:pt x="1455026" y="0"/>
                </a:lnTo>
                <a:lnTo>
                  <a:pt x="1455026" y="818451"/>
                </a:lnTo>
                <a:lnTo>
                  <a:pt x="0" y="818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491415" y="4526984"/>
            <a:ext cx="675520" cy="812546"/>
            <a:chOff x="0" y="0"/>
            <a:chExt cx="812800" cy="977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977672"/>
            </a:xfrm>
            <a:custGeom>
              <a:avLst/>
              <a:gdLst/>
              <a:ahLst/>
              <a:cxnLst/>
              <a:rect r="r" b="b" t="t" l="l"/>
              <a:pathLst>
                <a:path h="977672" w="812800">
                  <a:moveTo>
                    <a:pt x="406400" y="977672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977672"/>
                  </a:lnTo>
                  <a:close/>
                </a:path>
              </a:pathLst>
            </a:custGeom>
            <a:solidFill>
              <a:srgbClr val="80B0B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50784"/>
              <a:ext cx="558800" cy="4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33862" y="3844105"/>
            <a:ext cx="1190625" cy="119062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EFF"/>
            </a:solidFill>
            <a:ln w="142875" cap="sq">
              <a:solidFill>
                <a:srgbClr val="91C9C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101662" y="5530030"/>
            <a:ext cx="1455025" cy="818452"/>
          </a:xfrm>
          <a:custGeom>
            <a:avLst/>
            <a:gdLst/>
            <a:ahLst/>
            <a:cxnLst/>
            <a:rect r="r" b="b" t="t" l="l"/>
            <a:pathLst>
              <a:path h="818452" w="1455025">
                <a:moveTo>
                  <a:pt x="0" y="0"/>
                </a:moveTo>
                <a:lnTo>
                  <a:pt x="1455026" y="0"/>
                </a:lnTo>
                <a:lnTo>
                  <a:pt x="1455026" y="818452"/>
                </a:lnTo>
                <a:lnTo>
                  <a:pt x="0" y="818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367965" y="3932056"/>
            <a:ext cx="675520" cy="812546"/>
            <a:chOff x="0" y="0"/>
            <a:chExt cx="812800" cy="977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977672"/>
            </a:xfrm>
            <a:custGeom>
              <a:avLst/>
              <a:gdLst/>
              <a:ahLst/>
              <a:cxnLst/>
              <a:rect r="r" b="b" t="t" l="l"/>
              <a:pathLst>
                <a:path h="977672" w="812800">
                  <a:moveTo>
                    <a:pt x="406400" y="977672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977672"/>
                  </a:lnTo>
                  <a:close/>
                </a:path>
              </a:pathLst>
            </a:custGeom>
            <a:solidFill>
              <a:srgbClr val="3AA27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50784"/>
              <a:ext cx="558800" cy="4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10412" y="3312350"/>
            <a:ext cx="1190625" cy="119062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EFF"/>
            </a:solidFill>
            <a:ln w="142875" cap="sq">
              <a:solidFill>
                <a:srgbClr val="56C497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978212" y="4935102"/>
            <a:ext cx="1455025" cy="818452"/>
          </a:xfrm>
          <a:custGeom>
            <a:avLst/>
            <a:gdLst/>
            <a:ahLst/>
            <a:cxnLst/>
            <a:rect r="r" b="b" t="t" l="l"/>
            <a:pathLst>
              <a:path h="818452" w="1455025">
                <a:moveTo>
                  <a:pt x="0" y="0"/>
                </a:moveTo>
                <a:lnTo>
                  <a:pt x="1455026" y="0"/>
                </a:lnTo>
                <a:lnTo>
                  <a:pt x="1455026" y="818451"/>
                </a:lnTo>
                <a:lnTo>
                  <a:pt x="0" y="818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244515" y="4526984"/>
            <a:ext cx="675520" cy="812546"/>
            <a:chOff x="0" y="0"/>
            <a:chExt cx="812800" cy="9776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977672"/>
            </a:xfrm>
            <a:custGeom>
              <a:avLst/>
              <a:gdLst/>
              <a:ahLst/>
              <a:cxnLst/>
              <a:rect r="r" b="b" t="t" l="l"/>
              <a:pathLst>
                <a:path h="977672" w="812800">
                  <a:moveTo>
                    <a:pt x="406400" y="977672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977672"/>
                  </a:lnTo>
                  <a:close/>
                </a:path>
              </a:pathLst>
            </a:custGeom>
            <a:solidFill>
              <a:srgbClr val="6FC98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50784"/>
              <a:ext cx="558800" cy="4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986962" y="3844105"/>
            <a:ext cx="1190625" cy="119062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EFF"/>
            </a:solidFill>
            <a:ln w="142875" cap="sq">
              <a:solidFill>
                <a:srgbClr val="7DE696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854762" y="5530030"/>
            <a:ext cx="1455025" cy="818452"/>
          </a:xfrm>
          <a:custGeom>
            <a:avLst/>
            <a:gdLst/>
            <a:ahLst/>
            <a:cxnLst/>
            <a:rect r="r" b="b" t="t" l="l"/>
            <a:pathLst>
              <a:path h="818452" w="1455025">
                <a:moveTo>
                  <a:pt x="0" y="0"/>
                </a:moveTo>
                <a:lnTo>
                  <a:pt x="1455026" y="0"/>
                </a:lnTo>
                <a:lnTo>
                  <a:pt x="1455026" y="818452"/>
                </a:lnTo>
                <a:lnTo>
                  <a:pt x="0" y="8184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121065" y="3932056"/>
            <a:ext cx="675520" cy="812546"/>
            <a:chOff x="0" y="0"/>
            <a:chExt cx="812800" cy="9776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977672"/>
            </a:xfrm>
            <a:custGeom>
              <a:avLst/>
              <a:gdLst/>
              <a:ahLst/>
              <a:cxnLst/>
              <a:rect r="r" b="b" t="t" l="l"/>
              <a:pathLst>
                <a:path h="977672" w="812800">
                  <a:moveTo>
                    <a:pt x="406400" y="977672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977672"/>
                  </a:lnTo>
                  <a:close/>
                </a:path>
              </a:pathLst>
            </a:custGeom>
            <a:solidFill>
              <a:srgbClr val="91D5A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50784"/>
              <a:ext cx="558800" cy="4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863512" y="3312350"/>
            <a:ext cx="1190625" cy="119062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EFF"/>
            </a:solidFill>
            <a:ln w="142875" cap="sq">
              <a:solidFill>
                <a:srgbClr val="B5F2C5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2731312" y="4935102"/>
            <a:ext cx="1455025" cy="818452"/>
          </a:xfrm>
          <a:custGeom>
            <a:avLst/>
            <a:gdLst/>
            <a:ahLst/>
            <a:cxnLst/>
            <a:rect r="r" b="b" t="t" l="l"/>
            <a:pathLst>
              <a:path h="818452" w="1455025">
                <a:moveTo>
                  <a:pt x="0" y="0"/>
                </a:moveTo>
                <a:lnTo>
                  <a:pt x="1455026" y="0"/>
                </a:lnTo>
                <a:lnTo>
                  <a:pt x="1455026" y="818451"/>
                </a:lnTo>
                <a:lnTo>
                  <a:pt x="0" y="818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5997615" y="4526984"/>
            <a:ext cx="675520" cy="812546"/>
            <a:chOff x="0" y="0"/>
            <a:chExt cx="812800" cy="9776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977672"/>
            </a:xfrm>
            <a:custGeom>
              <a:avLst/>
              <a:gdLst/>
              <a:ahLst/>
              <a:cxnLst/>
              <a:rect r="r" b="b" t="t" l="l"/>
              <a:pathLst>
                <a:path h="977672" w="812800">
                  <a:moveTo>
                    <a:pt x="406400" y="977672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977672"/>
                  </a:ln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27000" y="50784"/>
              <a:ext cx="558800" cy="4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740062" y="3844105"/>
            <a:ext cx="1190625" cy="1190625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EFF"/>
            </a:solidFill>
            <a:ln w="142875" cap="sq">
              <a:solidFill>
                <a:srgbClr val="215274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5607862" y="5530030"/>
            <a:ext cx="1455025" cy="818452"/>
          </a:xfrm>
          <a:custGeom>
            <a:avLst/>
            <a:gdLst/>
            <a:ahLst/>
            <a:cxnLst/>
            <a:rect r="r" b="b" t="t" l="l"/>
            <a:pathLst>
              <a:path h="818452" w="1455025">
                <a:moveTo>
                  <a:pt x="0" y="0"/>
                </a:moveTo>
                <a:lnTo>
                  <a:pt x="1455026" y="0"/>
                </a:lnTo>
                <a:lnTo>
                  <a:pt x="1455026" y="818452"/>
                </a:lnTo>
                <a:lnTo>
                  <a:pt x="0" y="8184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610247" y="4254161"/>
            <a:ext cx="439006" cy="427275"/>
          </a:xfrm>
          <a:custGeom>
            <a:avLst/>
            <a:gdLst/>
            <a:ahLst/>
            <a:cxnLst/>
            <a:rect r="r" b="b" t="t" l="l"/>
            <a:pathLst>
              <a:path h="427275" w="439006">
                <a:moveTo>
                  <a:pt x="0" y="0"/>
                </a:moveTo>
                <a:lnTo>
                  <a:pt x="439006" y="0"/>
                </a:lnTo>
                <a:lnTo>
                  <a:pt x="439006" y="427275"/>
                </a:lnTo>
                <a:lnTo>
                  <a:pt x="0" y="427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452047" y="3747280"/>
            <a:ext cx="559004" cy="336121"/>
          </a:xfrm>
          <a:custGeom>
            <a:avLst/>
            <a:gdLst/>
            <a:ahLst/>
            <a:cxnLst/>
            <a:rect r="r" b="b" t="t" l="l"/>
            <a:pathLst>
              <a:path h="336121" w="559004">
                <a:moveTo>
                  <a:pt x="0" y="0"/>
                </a:moveTo>
                <a:lnTo>
                  <a:pt x="559004" y="0"/>
                </a:lnTo>
                <a:lnTo>
                  <a:pt x="559004" y="336122"/>
                </a:lnTo>
                <a:lnTo>
                  <a:pt x="0" y="3361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0353140" y="4162616"/>
            <a:ext cx="410752" cy="509868"/>
          </a:xfrm>
          <a:custGeom>
            <a:avLst/>
            <a:gdLst/>
            <a:ahLst/>
            <a:cxnLst/>
            <a:rect r="r" b="b" t="t" l="l"/>
            <a:pathLst>
              <a:path h="509868" w="410752">
                <a:moveTo>
                  <a:pt x="0" y="0"/>
                </a:moveTo>
                <a:lnTo>
                  <a:pt x="410752" y="0"/>
                </a:lnTo>
                <a:lnTo>
                  <a:pt x="410752" y="509868"/>
                </a:lnTo>
                <a:lnTo>
                  <a:pt x="0" y="50986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3236577" y="3688509"/>
            <a:ext cx="476250" cy="407513"/>
          </a:xfrm>
          <a:custGeom>
            <a:avLst/>
            <a:gdLst/>
            <a:ahLst/>
            <a:cxnLst/>
            <a:rect r="r" b="b" t="t" l="l"/>
            <a:pathLst>
              <a:path h="407513" w="476250">
                <a:moveTo>
                  <a:pt x="0" y="0"/>
                </a:moveTo>
                <a:lnTo>
                  <a:pt x="476250" y="0"/>
                </a:lnTo>
                <a:lnTo>
                  <a:pt x="476250" y="407513"/>
                </a:lnTo>
                <a:lnTo>
                  <a:pt x="0" y="4075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6100655" y="4192064"/>
            <a:ext cx="459155" cy="504278"/>
          </a:xfrm>
          <a:custGeom>
            <a:avLst/>
            <a:gdLst/>
            <a:ahLst/>
            <a:cxnLst/>
            <a:rect r="r" b="b" t="t" l="l"/>
            <a:pathLst>
              <a:path h="504278" w="459155">
                <a:moveTo>
                  <a:pt x="0" y="0"/>
                </a:moveTo>
                <a:lnTo>
                  <a:pt x="459154" y="0"/>
                </a:lnTo>
                <a:lnTo>
                  <a:pt x="459154" y="504278"/>
                </a:lnTo>
                <a:lnTo>
                  <a:pt x="0" y="50427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5400000">
            <a:off x="2962275" y="4824980"/>
            <a:ext cx="857250" cy="776373"/>
          </a:xfrm>
          <a:custGeom>
            <a:avLst/>
            <a:gdLst/>
            <a:ahLst/>
            <a:cxnLst/>
            <a:rect r="r" b="b" t="t" l="l"/>
            <a:pathLst>
              <a:path h="776373" w="857250">
                <a:moveTo>
                  <a:pt x="0" y="0"/>
                </a:moveTo>
                <a:lnTo>
                  <a:pt x="857250" y="0"/>
                </a:lnTo>
                <a:lnTo>
                  <a:pt x="857250" y="776373"/>
                </a:lnTo>
                <a:lnTo>
                  <a:pt x="0" y="7763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19999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343936" t="0" r="0" b="-169600"/>
            </a:stretch>
          </a:blipFill>
        </p:spPr>
      </p:sp>
      <p:sp>
        <p:nvSpPr>
          <p:cNvPr name="Freeform 50" id="50"/>
          <p:cNvSpPr/>
          <p:nvPr/>
        </p:nvSpPr>
        <p:spPr>
          <a:xfrm flipH="true" flipV="false" rot="5400000">
            <a:off x="5844085" y="4824980"/>
            <a:ext cx="857250" cy="776373"/>
          </a:xfrm>
          <a:custGeom>
            <a:avLst/>
            <a:gdLst/>
            <a:ahLst/>
            <a:cxnLst/>
            <a:rect r="r" b="b" t="t" l="l"/>
            <a:pathLst>
              <a:path h="776373" w="857250">
                <a:moveTo>
                  <a:pt x="857250" y="0"/>
                </a:moveTo>
                <a:lnTo>
                  <a:pt x="0" y="0"/>
                </a:lnTo>
                <a:lnTo>
                  <a:pt x="0" y="776373"/>
                </a:lnTo>
                <a:lnTo>
                  <a:pt x="857250" y="776373"/>
                </a:lnTo>
                <a:lnTo>
                  <a:pt x="857250" y="0"/>
                </a:lnTo>
                <a:close/>
              </a:path>
            </a:pathLst>
          </a:custGeom>
          <a:blipFill>
            <a:blip r:embed="rId21">
              <a:alphaModFix amt="19999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343936" t="0" r="0" b="-16960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5400000">
            <a:off x="8711110" y="4824980"/>
            <a:ext cx="857250" cy="776373"/>
          </a:xfrm>
          <a:custGeom>
            <a:avLst/>
            <a:gdLst/>
            <a:ahLst/>
            <a:cxnLst/>
            <a:rect r="r" b="b" t="t" l="l"/>
            <a:pathLst>
              <a:path h="776373" w="857250">
                <a:moveTo>
                  <a:pt x="0" y="0"/>
                </a:moveTo>
                <a:lnTo>
                  <a:pt x="857250" y="0"/>
                </a:lnTo>
                <a:lnTo>
                  <a:pt x="857250" y="776373"/>
                </a:lnTo>
                <a:lnTo>
                  <a:pt x="0" y="77637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9999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343936" t="0" r="0" b="-169600"/>
            </a:stretch>
          </a:blipFill>
        </p:spPr>
      </p:sp>
      <p:sp>
        <p:nvSpPr>
          <p:cNvPr name="Freeform 52" id="52"/>
          <p:cNvSpPr/>
          <p:nvPr/>
        </p:nvSpPr>
        <p:spPr>
          <a:xfrm flipH="true" flipV="false" rot="5400000">
            <a:off x="11587660" y="4824980"/>
            <a:ext cx="857250" cy="776373"/>
          </a:xfrm>
          <a:custGeom>
            <a:avLst/>
            <a:gdLst/>
            <a:ahLst/>
            <a:cxnLst/>
            <a:rect r="r" b="b" t="t" l="l"/>
            <a:pathLst>
              <a:path h="776373" w="857250">
                <a:moveTo>
                  <a:pt x="857250" y="0"/>
                </a:moveTo>
                <a:lnTo>
                  <a:pt x="0" y="0"/>
                </a:lnTo>
                <a:lnTo>
                  <a:pt x="0" y="776373"/>
                </a:lnTo>
                <a:lnTo>
                  <a:pt x="857250" y="776373"/>
                </a:lnTo>
                <a:lnTo>
                  <a:pt x="857250" y="0"/>
                </a:lnTo>
                <a:close/>
              </a:path>
            </a:pathLst>
          </a:custGeom>
          <a:blipFill>
            <a:blip r:embed="rId21">
              <a:alphaModFix amt="19999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343936" t="0" r="0" b="-16960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5400000">
            <a:off x="14472740" y="4824980"/>
            <a:ext cx="857250" cy="776373"/>
          </a:xfrm>
          <a:custGeom>
            <a:avLst/>
            <a:gdLst/>
            <a:ahLst/>
            <a:cxnLst/>
            <a:rect r="r" b="b" t="t" l="l"/>
            <a:pathLst>
              <a:path h="776373" w="857250">
                <a:moveTo>
                  <a:pt x="0" y="0"/>
                </a:moveTo>
                <a:lnTo>
                  <a:pt x="857250" y="0"/>
                </a:lnTo>
                <a:lnTo>
                  <a:pt x="857250" y="776373"/>
                </a:lnTo>
                <a:lnTo>
                  <a:pt x="0" y="77637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9999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343936" t="0" r="0" b="-16960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703301" y="3579288"/>
            <a:ext cx="497716" cy="526653"/>
          </a:xfrm>
          <a:custGeom>
            <a:avLst/>
            <a:gdLst/>
            <a:ahLst/>
            <a:cxnLst/>
            <a:rect r="r" b="b" t="t" l="l"/>
            <a:pathLst>
              <a:path h="526653" w="497716">
                <a:moveTo>
                  <a:pt x="0" y="0"/>
                </a:moveTo>
                <a:lnTo>
                  <a:pt x="497715" y="0"/>
                </a:lnTo>
                <a:lnTo>
                  <a:pt x="497715" y="526653"/>
                </a:lnTo>
                <a:lnTo>
                  <a:pt x="0" y="526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3238500" y="609600"/>
            <a:ext cx="118110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5"/>
              </a:lnSpc>
            </a:pPr>
            <a:r>
              <a:rPr lang="en-US" sz="5596" spc="-83">
                <a:solidFill>
                  <a:srgbClr val="215274"/>
                </a:solidFill>
                <a:latin typeface="Poppins"/>
                <a:ea typeface="Poppins"/>
                <a:cs typeface="Poppins"/>
                <a:sym typeface="Poppins"/>
              </a:rPr>
              <a:t>How a Software System Works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086152" y="1676400"/>
            <a:ext cx="10115696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2"/>
              </a:lnSpc>
            </a:pPr>
            <a:r>
              <a:rPr lang="en-US" sz="2360">
                <a:solidFill>
                  <a:srgbClr val="215274"/>
                </a:solidFill>
                <a:latin typeface="Poppins"/>
                <a:ea typeface="Poppins"/>
                <a:cs typeface="Poppins"/>
                <a:sym typeface="Poppins"/>
              </a:rPr>
              <a:t>Data flow from user interaction through frontend, API, backend, business logic, and database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66750" y="6243707"/>
            <a:ext cx="25717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2"/>
              </a:lnSpc>
            </a:pPr>
            <a:r>
              <a:rPr lang="en-US" b="true" sz="2360">
                <a:solidFill>
                  <a:srgbClr val="21527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99358" y="6805682"/>
            <a:ext cx="2506534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4"/>
              </a:lnSpc>
            </a:pPr>
            <a:r>
              <a:rPr lang="en-US" sz="1770">
                <a:solidFill>
                  <a:srgbClr val="215274"/>
                </a:solidFill>
                <a:latin typeface="Poppins"/>
                <a:ea typeface="Poppins"/>
                <a:cs typeface="Poppins"/>
                <a:sym typeface="Poppins"/>
              </a:rPr>
              <a:t>User initiates a request through a browser or mobile app interface to interact with the system.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543300" y="7100957"/>
            <a:ext cx="25717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2"/>
              </a:lnSpc>
            </a:pPr>
            <a:r>
              <a:rPr lang="en-US" b="true" sz="2360">
                <a:solidFill>
                  <a:srgbClr val="21527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Frontend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543300" y="7662932"/>
            <a:ext cx="257175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4"/>
              </a:lnSpc>
            </a:pPr>
            <a:r>
              <a:rPr lang="en-US" sz="1770">
                <a:solidFill>
                  <a:srgbClr val="215274"/>
                </a:solidFill>
                <a:latin typeface="Poppins"/>
                <a:ea typeface="Poppins"/>
                <a:cs typeface="Poppins"/>
                <a:sym typeface="Poppins"/>
              </a:rPr>
              <a:t>Frontend handles user interaction, renders UI components, and sends requests to the REST API layer.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419850" y="6243707"/>
            <a:ext cx="25717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2"/>
              </a:lnSpc>
            </a:pPr>
            <a:r>
              <a:rPr lang="en-US" b="true" sz="2360">
                <a:solidFill>
                  <a:srgbClr val="21527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REST API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419850" y="6805682"/>
            <a:ext cx="257175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4"/>
              </a:lnSpc>
            </a:pPr>
            <a:r>
              <a:rPr lang="en-US" sz="1770">
                <a:solidFill>
                  <a:srgbClr val="215274"/>
                </a:solidFill>
                <a:latin typeface="Poppins"/>
                <a:ea typeface="Poppins"/>
                <a:cs typeface="Poppins"/>
                <a:sym typeface="Poppins"/>
              </a:rPr>
              <a:t>REST API connects frontend and backend, routing requests, validating inputs, and managing authentication.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296400" y="7100957"/>
            <a:ext cx="25717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2"/>
              </a:lnSpc>
            </a:pPr>
            <a:r>
              <a:rPr lang="en-US" b="true" sz="2360">
                <a:solidFill>
                  <a:srgbClr val="21527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Backend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296400" y="7662932"/>
            <a:ext cx="257175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4"/>
              </a:lnSpc>
            </a:pPr>
            <a:r>
              <a:rPr lang="en-US" sz="1770">
                <a:solidFill>
                  <a:srgbClr val="215274"/>
                </a:solidFill>
                <a:latin typeface="Poppins"/>
                <a:ea typeface="Poppins"/>
                <a:cs typeface="Poppins"/>
                <a:sym typeface="Poppins"/>
              </a:rPr>
              <a:t>Backend processes incoming requests, applies authorization rules, and coordinates business logic execution.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172950" y="6243707"/>
            <a:ext cx="25717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2"/>
              </a:lnSpc>
            </a:pPr>
            <a:r>
              <a:rPr lang="en-US" b="true" sz="2360">
                <a:solidFill>
                  <a:srgbClr val="21527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Business Logic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172950" y="6805682"/>
            <a:ext cx="257175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4"/>
              </a:lnSpc>
            </a:pPr>
            <a:r>
              <a:rPr lang="en-US" sz="1770">
                <a:solidFill>
                  <a:srgbClr val="215274"/>
                </a:solidFill>
                <a:latin typeface="Poppins"/>
                <a:ea typeface="Poppins"/>
                <a:cs typeface="Poppins"/>
                <a:sym typeface="Poppins"/>
              </a:rPr>
              <a:t>Business logic layer enforces core application rules, data transformations, and workflow processing.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049500" y="7100957"/>
            <a:ext cx="25717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2"/>
              </a:lnSpc>
            </a:pPr>
            <a:r>
              <a:rPr lang="en-US" b="true" sz="2360">
                <a:solidFill>
                  <a:srgbClr val="21527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Database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5049500" y="7662932"/>
            <a:ext cx="257175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4"/>
              </a:lnSpc>
            </a:pPr>
            <a:r>
              <a:rPr lang="en-US" sz="1770">
                <a:solidFill>
                  <a:srgbClr val="215274"/>
                </a:solidFill>
                <a:latin typeface="Poppins"/>
                <a:ea typeface="Poppins"/>
                <a:cs typeface="Poppins"/>
                <a:sym typeface="Poppins"/>
              </a:rPr>
              <a:t>Database stores and retrieves application data securely, returning results up through the system layers.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41974" y="4178708"/>
            <a:ext cx="8975409" cy="199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.gitignore – Keeping Your Repo Clean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Tells Git which files to ignore and not track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Prevents committing sensitive files (e.g., .env, API keys)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Excludes build artifacts, logs, and OS-specific files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Supports wildcards and pattern matching rules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10149532">
            <a:off x="-3580585" y="4143179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29211">
            <a:off x="14707415" y="-4280324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61089" y="3997046"/>
            <a:ext cx="4775960" cy="5093183"/>
          </a:xfrm>
          <a:custGeom>
            <a:avLst/>
            <a:gdLst/>
            <a:ahLst/>
            <a:cxnLst/>
            <a:rect r="r" b="b" t="t" l="l"/>
            <a:pathLst>
              <a:path h="5093183" w="4775960">
                <a:moveTo>
                  <a:pt x="0" y="0"/>
                </a:moveTo>
                <a:lnTo>
                  <a:pt x="4775960" y="0"/>
                </a:lnTo>
                <a:lnTo>
                  <a:pt x="4775960" y="5093182"/>
                </a:lnTo>
                <a:lnTo>
                  <a:pt x="0" y="5093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22883" y="1246437"/>
            <a:ext cx="10894849" cy="23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DAY 2 – GIT &amp; VERSION CONTROL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41974" y="6578754"/>
            <a:ext cx="8975409" cy="199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README – Your Project's Front Page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First file developers see when visiting a repository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Describes the project purpose, setup, and usage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Written in Markdown (.md) for easy formatting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Includes badges, links, and contribution guidelines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7221231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384810" y="239737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24885" y="4487093"/>
            <a:ext cx="805915" cy="830712"/>
          </a:xfrm>
          <a:custGeom>
            <a:avLst/>
            <a:gdLst/>
            <a:ahLst/>
            <a:cxnLst/>
            <a:rect r="r" b="b" t="t" l="l"/>
            <a:pathLst>
              <a:path h="830712" w="805915">
                <a:moveTo>
                  <a:pt x="0" y="0"/>
                </a:moveTo>
                <a:lnTo>
                  <a:pt x="805914" y="0"/>
                </a:lnTo>
                <a:lnTo>
                  <a:pt x="805914" y="830712"/>
                </a:lnTo>
                <a:lnTo>
                  <a:pt x="0" y="830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6389" y="1587629"/>
            <a:ext cx="9615222" cy="23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DAY 2 – GIT &amp;</a:t>
            </a:r>
          </a:p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VERSION CONTROL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3846" y="4315722"/>
            <a:ext cx="10580784" cy="1192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Repository: A storage location where your project's files and the entire revision history are tracked. Local repos live on your machine; remote repos (e.g., GitHub) are hosted online for collaboration.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13846" y="5856350"/>
            <a:ext cx="10580784" cy="1192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Clone: Creates a full local copy of a remote repository on your machine, including all branches and commit history. Use git clone  to get started on an existing project.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13846" y="7401685"/>
            <a:ext cx="10580784" cy="1192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Branch: An independent line of development. Branching lets you work on features or fixes in isolation without affecting the main codebase. Common branches: main, develop, feature/</a:t>
            </a:r>
            <a:r>
              <a:rPr lang="en-US" sz="2798" i="true">
                <a:solidFill>
                  <a:srgbClr val="FFFFFF"/>
                </a:solidFill>
                <a:latin typeface="Koho Italics"/>
                <a:ea typeface="Koho Italics"/>
                <a:cs typeface="Koho Italics"/>
                <a:sym typeface="Koho Italics"/>
              </a:rPr>
              <a:t>, hotfix/</a:t>
            </a:r>
            <a:r>
              <a:rPr lang="en-US" sz="2798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633442" y="5988747"/>
            <a:ext cx="812803" cy="881815"/>
          </a:xfrm>
          <a:custGeom>
            <a:avLst/>
            <a:gdLst/>
            <a:ahLst/>
            <a:cxnLst/>
            <a:rect r="r" b="b" t="t" l="l"/>
            <a:pathLst>
              <a:path h="881815" w="812803">
                <a:moveTo>
                  <a:pt x="0" y="0"/>
                </a:moveTo>
                <a:lnTo>
                  <a:pt x="812803" y="0"/>
                </a:lnTo>
                <a:lnTo>
                  <a:pt x="812803" y="881815"/>
                </a:lnTo>
                <a:lnTo>
                  <a:pt x="0" y="8818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91937" y="7353030"/>
            <a:ext cx="1445136" cy="1458244"/>
          </a:xfrm>
          <a:custGeom>
            <a:avLst/>
            <a:gdLst/>
            <a:ahLst/>
            <a:cxnLst/>
            <a:rect r="r" b="b" t="t" l="l"/>
            <a:pathLst>
              <a:path h="1458244" w="1445136">
                <a:moveTo>
                  <a:pt x="0" y="0"/>
                </a:moveTo>
                <a:lnTo>
                  <a:pt x="1445137" y="0"/>
                </a:lnTo>
                <a:lnTo>
                  <a:pt x="1445137" y="1458244"/>
                </a:lnTo>
                <a:lnTo>
                  <a:pt x="0" y="14582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7221231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384810" y="239737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70625" y="4407128"/>
            <a:ext cx="1091414" cy="1038603"/>
          </a:xfrm>
          <a:custGeom>
            <a:avLst/>
            <a:gdLst/>
            <a:ahLst/>
            <a:cxnLst/>
            <a:rect r="r" b="b" t="t" l="l"/>
            <a:pathLst>
              <a:path h="1038603" w="1091414">
                <a:moveTo>
                  <a:pt x="0" y="0"/>
                </a:moveTo>
                <a:lnTo>
                  <a:pt x="1091413" y="0"/>
                </a:lnTo>
                <a:lnTo>
                  <a:pt x="1091413" y="1038603"/>
                </a:lnTo>
                <a:lnTo>
                  <a:pt x="0" y="1038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6389" y="1587629"/>
            <a:ext cx="9615222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9"/>
              </a:lnSpc>
            </a:pPr>
            <a:r>
              <a:rPr lang="en-US" b="true" sz="7500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DAY 2 – GIT &amp; VERSION CONTROL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3846" y="4315722"/>
            <a:ext cx="10580784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Add &amp; Commit — Stage changes with git add to prepare files for tracking, then use git commit to save a snapshot of your work with a meaningful message describing what changed.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13846" y="5856350"/>
            <a:ext cx="10580784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Push &amp; Pull — Use git push to upload your local commits to a remote repository on GitHub, and git pull to fetch and integrate the latest changes from the remote into your local branch.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13846" y="7401685"/>
            <a:ext cx="10580784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Fetch &amp; Merge — git fetch downloads new data from the remote without modifying your working files, while git merge combines a target branch's history into your current branch safely.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604499" y="5536527"/>
            <a:ext cx="845512" cy="1820129"/>
          </a:xfrm>
          <a:custGeom>
            <a:avLst/>
            <a:gdLst/>
            <a:ahLst/>
            <a:cxnLst/>
            <a:rect r="r" b="b" t="t" l="l"/>
            <a:pathLst>
              <a:path h="1820129" w="845512">
                <a:moveTo>
                  <a:pt x="0" y="0"/>
                </a:moveTo>
                <a:lnTo>
                  <a:pt x="845512" y="0"/>
                </a:lnTo>
                <a:lnTo>
                  <a:pt x="845512" y="1820129"/>
                </a:lnTo>
                <a:lnTo>
                  <a:pt x="0" y="18201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85237" y="7616445"/>
            <a:ext cx="1254639" cy="928089"/>
          </a:xfrm>
          <a:custGeom>
            <a:avLst/>
            <a:gdLst/>
            <a:ahLst/>
            <a:cxnLst/>
            <a:rect r="r" b="b" t="t" l="l"/>
            <a:pathLst>
              <a:path h="928089" w="1254639">
                <a:moveTo>
                  <a:pt x="0" y="0"/>
                </a:moveTo>
                <a:lnTo>
                  <a:pt x="1254639" y="0"/>
                </a:lnTo>
                <a:lnTo>
                  <a:pt x="1254639" y="928089"/>
                </a:lnTo>
                <a:lnTo>
                  <a:pt x="0" y="9280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7221231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384810" y="239737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89716" y="4272967"/>
            <a:ext cx="1204153" cy="1210189"/>
          </a:xfrm>
          <a:custGeom>
            <a:avLst/>
            <a:gdLst/>
            <a:ahLst/>
            <a:cxnLst/>
            <a:rect r="r" b="b" t="t" l="l"/>
            <a:pathLst>
              <a:path h="1210189" w="1204153">
                <a:moveTo>
                  <a:pt x="0" y="0"/>
                </a:moveTo>
                <a:lnTo>
                  <a:pt x="1204153" y="0"/>
                </a:lnTo>
                <a:lnTo>
                  <a:pt x="1204153" y="1210189"/>
                </a:lnTo>
                <a:lnTo>
                  <a:pt x="0" y="121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6389" y="1587629"/>
            <a:ext cx="9615222" cy="23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DAY 2 – GIT &amp;</a:t>
            </a:r>
          </a:p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VERSION CONTROL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3846" y="4306197"/>
            <a:ext cx="10580784" cy="114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6"/>
              </a:lnSpc>
            </a:pPr>
            <a:r>
              <a:rPr lang="en-US" sz="2680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Pull Request: A request to merge code from one branch into another. It enables team collaboration by allowing others to review your changes before they are integrated into the main codebase on GitHub.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13846" y="5846825"/>
            <a:ext cx="10580784" cy="114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6"/>
              </a:lnSpc>
            </a:pPr>
            <a:r>
              <a:rPr lang="en-US" sz="2680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Code Review: The process where teammates examine a Pull Request's code for bugs, style, and logic. Reviewers can comment, request changes, or approve the PR before it gets merged into the target branch.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13846" y="7392160"/>
            <a:ext cx="10580784" cy="114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6"/>
              </a:lnSpc>
            </a:pPr>
            <a:r>
              <a:rPr lang="en-US" sz="2680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Merge Conflict: Occurs when two branches modify the same lines differently. Git cannot auto-merge them, so the developer must manually resolve conflicts by editing the file and choosing which changes to keep.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558728" y="5967053"/>
            <a:ext cx="1054164" cy="995401"/>
          </a:xfrm>
          <a:custGeom>
            <a:avLst/>
            <a:gdLst/>
            <a:ahLst/>
            <a:cxnLst/>
            <a:rect r="r" b="b" t="t" l="l"/>
            <a:pathLst>
              <a:path h="995401" w="1054164">
                <a:moveTo>
                  <a:pt x="0" y="0"/>
                </a:moveTo>
                <a:lnTo>
                  <a:pt x="1054164" y="0"/>
                </a:lnTo>
                <a:lnTo>
                  <a:pt x="1054164" y="995401"/>
                </a:lnTo>
                <a:lnTo>
                  <a:pt x="0" y="9954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04937" y="7632325"/>
            <a:ext cx="1986954" cy="846748"/>
          </a:xfrm>
          <a:custGeom>
            <a:avLst/>
            <a:gdLst/>
            <a:ahLst/>
            <a:cxnLst/>
            <a:rect r="r" b="b" t="t" l="l"/>
            <a:pathLst>
              <a:path h="846748" w="1986954">
                <a:moveTo>
                  <a:pt x="0" y="0"/>
                </a:moveTo>
                <a:lnTo>
                  <a:pt x="1986953" y="0"/>
                </a:lnTo>
                <a:lnTo>
                  <a:pt x="1986953" y="846748"/>
                </a:lnTo>
                <a:lnTo>
                  <a:pt x="0" y="846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41974" y="4178708"/>
            <a:ext cx="8975409" cy="199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.gitignore – Keeping Your Repo Clean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Tells Git which files to ignore and not track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Prevents committing sensitive files (e.g., .env, API keys)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Excludes build artifacts, logs, and OS-specific files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Supports wildcards and pattern matching rules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10149532">
            <a:off x="-3580585" y="4143179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29211">
            <a:off x="14707415" y="-4280324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61089" y="3997046"/>
            <a:ext cx="4775960" cy="5093183"/>
          </a:xfrm>
          <a:custGeom>
            <a:avLst/>
            <a:gdLst/>
            <a:ahLst/>
            <a:cxnLst/>
            <a:rect r="r" b="b" t="t" l="l"/>
            <a:pathLst>
              <a:path h="5093183" w="4775960">
                <a:moveTo>
                  <a:pt x="0" y="0"/>
                </a:moveTo>
                <a:lnTo>
                  <a:pt x="4775960" y="0"/>
                </a:lnTo>
                <a:lnTo>
                  <a:pt x="4775960" y="5093182"/>
                </a:lnTo>
                <a:lnTo>
                  <a:pt x="0" y="5093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22883" y="1246437"/>
            <a:ext cx="10894849" cy="23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DAY 2 – GIT &amp; VERSION CONTROL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41974" y="6578754"/>
            <a:ext cx="8975409" cy="199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README – Your Project's Front Page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First file developers see when visiting a repository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Describes the project purpose, setup, and usage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Written in Markdown (.md) for easy formatting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Includes badges, links, and contribution guidelines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9734" y="832902"/>
            <a:ext cx="269566" cy="179598"/>
          </a:xfrm>
          <a:custGeom>
            <a:avLst/>
            <a:gdLst/>
            <a:ahLst/>
            <a:cxnLst/>
            <a:rect r="r" b="b" t="t" l="l"/>
            <a:pathLst>
              <a:path h="179598" w="269566">
                <a:moveTo>
                  <a:pt x="0" y="0"/>
                </a:moveTo>
                <a:lnTo>
                  <a:pt x="269566" y="0"/>
                </a:lnTo>
                <a:lnTo>
                  <a:pt x="269566" y="179598"/>
                </a:lnTo>
                <a:lnTo>
                  <a:pt x="0" y="179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23822" y="7326946"/>
            <a:ext cx="769302" cy="440600"/>
          </a:xfrm>
          <a:custGeom>
            <a:avLst/>
            <a:gdLst/>
            <a:ahLst/>
            <a:cxnLst/>
            <a:rect r="r" b="b" t="t" l="l"/>
            <a:pathLst>
              <a:path h="440600" w="769302">
                <a:moveTo>
                  <a:pt x="0" y="0"/>
                </a:moveTo>
                <a:lnTo>
                  <a:pt x="769302" y="0"/>
                </a:lnTo>
                <a:lnTo>
                  <a:pt x="769302" y="440601"/>
                </a:lnTo>
                <a:lnTo>
                  <a:pt x="0" y="44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048520" y="2224876"/>
            <a:ext cx="4210780" cy="3585682"/>
            <a:chOff x="0" y="0"/>
            <a:chExt cx="1460623" cy="12437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0627" cy="1243791"/>
            </a:xfrm>
            <a:custGeom>
              <a:avLst/>
              <a:gdLst/>
              <a:ahLst/>
              <a:cxnLst/>
              <a:rect r="r" b="b" t="t" l="l"/>
              <a:pathLst>
                <a:path h="1243791" w="1460627">
                  <a:moveTo>
                    <a:pt x="1046362" y="38122"/>
                  </a:moveTo>
                  <a:cubicBezTo>
                    <a:pt x="1024662" y="13865"/>
                    <a:pt x="993657" y="0"/>
                    <a:pt x="961111" y="0"/>
                  </a:cubicBezTo>
                  <a:lnTo>
                    <a:pt x="114385" y="0"/>
                  </a:lnTo>
                  <a:cubicBezTo>
                    <a:pt x="51213" y="1"/>
                    <a:pt x="1" y="51211"/>
                    <a:pt x="0" y="114384"/>
                  </a:cubicBezTo>
                  <a:lnTo>
                    <a:pt x="0" y="501214"/>
                  </a:lnTo>
                  <a:lnTo>
                    <a:pt x="0" y="795306"/>
                  </a:lnTo>
                  <a:cubicBezTo>
                    <a:pt x="0" y="858478"/>
                    <a:pt x="51211" y="909690"/>
                    <a:pt x="114384" y="909690"/>
                  </a:cubicBezTo>
                  <a:lnTo>
                    <a:pt x="587586" y="909690"/>
                  </a:lnTo>
                  <a:cubicBezTo>
                    <a:pt x="620132" y="909690"/>
                    <a:pt x="651138" y="923554"/>
                    <a:pt x="672837" y="947811"/>
                  </a:cubicBezTo>
                  <a:lnTo>
                    <a:pt x="903501" y="1205669"/>
                  </a:lnTo>
                  <a:cubicBezTo>
                    <a:pt x="925201" y="1229927"/>
                    <a:pt x="956207" y="1243791"/>
                    <a:pt x="988753" y="1243791"/>
                  </a:cubicBezTo>
                  <a:lnTo>
                    <a:pt x="1346239" y="1243791"/>
                  </a:lnTo>
                  <a:cubicBezTo>
                    <a:pt x="1376576" y="1243792"/>
                    <a:pt x="1405670" y="1231742"/>
                    <a:pt x="1427122" y="1210291"/>
                  </a:cubicBezTo>
                  <a:cubicBezTo>
                    <a:pt x="1448574" y="1188841"/>
                    <a:pt x="1460626" y="1159748"/>
                    <a:pt x="1460627" y="1129411"/>
                  </a:cubicBezTo>
                  <a:lnTo>
                    <a:pt x="1460627" y="562247"/>
                  </a:lnTo>
                  <a:cubicBezTo>
                    <a:pt x="1460627" y="522943"/>
                    <a:pt x="1446140" y="485019"/>
                    <a:pt x="1419935" y="455726"/>
                  </a:cubicBezTo>
                  <a:close/>
                </a:path>
              </a:pathLst>
            </a:custGeom>
            <a:blipFill>
              <a:blip r:embed="rId6"/>
              <a:stretch>
                <a:fillRect l="0" t="-276" r="0" b="-27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47259" y="2215351"/>
            <a:ext cx="3203048" cy="2608275"/>
            <a:chOff x="0" y="0"/>
            <a:chExt cx="1064511" cy="8668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4511" cy="866843"/>
            </a:xfrm>
            <a:custGeom>
              <a:avLst/>
              <a:gdLst/>
              <a:ahLst/>
              <a:cxnLst/>
              <a:rect r="r" b="b" t="t" l="l"/>
              <a:pathLst>
                <a:path h="866843" w="1064511">
                  <a:moveTo>
                    <a:pt x="67677" y="0"/>
                  </a:moveTo>
                  <a:lnTo>
                    <a:pt x="996834" y="0"/>
                  </a:lnTo>
                  <a:cubicBezTo>
                    <a:pt x="1014783" y="0"/>
                    <a:pt x="1031997" y="7130"/>
                    <a:pt x="1044689" y="19822"/>
                  </a:cubicBezTo>
                  <a:cubicBezTo>
                    <a:pt x="1057381" y="32514"/>
                    <a:pt x="1064511" y="49728"/>
                    <a:pt x="1064511" y="67677"/>
                  </a:cubicBezTo>
                  <a:lnTo>
                    <a:pt x="1064511" y="799165"/>
                  </a:lnTo>
                  <a:cubicBezTo>
                    <a:pt x="1064511" y="817114"/>
                    <a:pt x="1057381" y="834328"/>
                    <a:pt x="1044689" y="847020"/>
                  </a:cubicBezTo>
                  <a:cubicBezTo>
                    <a:pt x="1031997" y="859712"/>
                    <a:pt x="1014783" y="866843"/>
                    <a:pt x="996834" y="866843"/>
                  </a:cubicBezTo>
                  <a:lnTo>
                    <a:pt x="67677" y="866843"/>
                  </a:lnTo>
                  <a:cubicBezTo>
                    <a:pt x="49728" y="866843"/>
                    <a:pt x="32514" y="859712"/>
                    <a:pt x="19822" y="847020"/>
                  </a:cubicBezTo>
                  <a:cubicBezTo>
                    <a:pt x="7130" y="834328"/>
                    <a:pt x="0" y="817114"/>
                    <a:pt x="0" y="799165"/>
                  </a:cubicBezTo>
                  <a:lnTo>
                    <a:pt x="0" y="67677"/>
                  </a:lnTo>
                  <a:cubicBezTo>
                    <a:pt x="0" y="49728"/>
                    <a:pt x="7130" y="32514"/>
                    <a:pt x="19822" y="19822"/>
                  </a:cubicBezTo>
                  <a:cubicBezTo>
                    <a:pt x="32514" y="7130"/>
                    <a:pt x="49728" y="0"/>
                    <a:pt x="67677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19" r="0" b="-11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0600" y="2207415"/>
            <a:ext cx="8556659" cy="258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8"/>
              </a:lnSpc>
            </a:pPr>
            <a:r>
              <a:rPr lang="en-US" b="true" sz="6895" spc="-137">
                <a:solidFill>
                  <a:srgbClr val="38B6FF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DAY 3 – LINUX &amp; DEV ENVIRONMENT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23822" y="5252251"/>
            <a:ext cx="19185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b="true" sz="2599" spc="-103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Linux Skills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47259" y="5619568"/>
            <a:ext cx="350126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sz="1399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Print working directory and list files in the current directory to navigate your filesystem with confidence.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47259" y="5271301"/>
            <a:ext cx="35012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8"/>
              </a:lnSpc>
            </a:pPr>
            <a:r>
              <a:rPr lang="en-US" b="true" sz="1598" spc="-63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pwd &amp; 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47259" y="7110322"/>
            <a:ext cx="350126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sz="1399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Change directories and create new folders to organize your project structure from the terminal.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47259" y="6762055"/>
            <a:ext cx="35012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8"/>
              </a:lnSpc>
            </a:pPr>
            <a:r>
              <a:rPr lang="en-US" b="true" sz="1598" spc="-63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cd &amp; mkdir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58039" y="7110322"/>
            <a:ext cx="350126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sz="1399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Create new empty files instantly from the command line, a foundational skill for every Linux developer.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58039" y="6762055"/>
            <a:ext cx="35012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8"/>
              </a:lnSpc>
            </a:pPr>
            <a:r>
              <a:rPr lang="en-US" b="true" sz="1598" spc="-63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touch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58039" y="8601075"/>
            <a:ext cx="350126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sz="1399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Mastering pwd, ls, cd, mkdir, and touch gives you full control over the Linux filesystem and project setup.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58039" y="8252808"/>
            <a:ext cx="35012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8"/>
              </a:lnSpc>
            </a:pPr>
            <a:r>
              <a:rPr lang="en-US" b="true" sz="1598" spc="-63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Navigation Basics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47259" y="9139518"/>
            <a:ext cx="416965" cy="118782"/>
            <a:chOff x="0" y="0"/>
            <a:chExt cx="109818" cy="312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818" cy="31284"/>
            </a:xfrm>
            <a:custGeom>
              <a:avLst/>
              <a:gdLst/>
              <a:ahLst/>
              <a:cxnLst/>
              <a:rect r="r" b="b" t="t" l="l"/>
              <a:pathLst>
                <a:path h="31284" w="109818">
                  <a:moveTo>
                    <a:pt x="15642" y="0"/>
                  </a:moveTo>
                  <a:lnTo>
                    <a:pt x="94176" y="0"/>
                  </a:lnTo>
                  <a:cubicBezTo>
                    <a:pt x="98324" y="0"/>
                    <a:pt x="102303" y="1648"/>
                    <a:pt x="105236" y="4581"/>
                  </a:cubicBezTo>
                  <a:cubicBezTo>
                    <a:pt x="108170" y="7515"/>
                    <a:pt x="109818" y="11494"/>
                    <a:pt x="109818" y="15642"/>
                  </a:cubicBezTo>
                  <a:lnTo>
                    <a:pt x="109818" y="15642"/>
                  </a:lnTo>
                  <a:cubicBezTo>
                    <a:pt x="109818" y="19791"/>
                    <a:pt x="108170" y="23769"/>
                    <a:pt x="105236" y="26703"/>
                  </a:cubicBezTo>
                  <a:cubicBezTo>
                    <a:pt x="102303" y="29636"/>
                    <a:pt x="98324" y="31284"/>
                    <a:pt x="94176" y="31284"/>
                  </a:cubicBezTo>
                  <a:lnTo>
                    <a:pt x="15642" y="31284"/>
                  </a:lnTo>
                  <a:cubicBezTo>
                    <a:pt x="11494" y="31284"/>
                    <a:pt x="7515" y="29636"/>
                    <a:pt x="4581" y="26703"/>
                  </a:cubicBezTo>
                  <a:cubicBezTo>
                    <a:pt x="1648" y="23769"/>
                    <a:pt x="0" y="19791"/>
                    <a:pt x="0" y="15642"/>
                  </a:cubicBezTo>
                  <a:lnTo>
                    <a:pt x="0" y="15642"/>
                  </a:lnTo>
                  <a:cubicBezTo>
                    <a:pt x="0" y="11494"/>
                    <a:pt x="1648" y="7515"/>
                    <a:pt x="4581" y="4581"/>
                  </a:cubicBezTo>
                  <a:cubicBezTo>
                    <a:pt x="7515" y="1648"/>
                    <a:pt x="11494" y="0"/>
                    <a:pt x="15642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9818" cy="88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5290351"/>
            <a:ext cx="5190272" cy="3967949"/>
            <a:chOff x="0" y="0"/>
            <a:chExt cx="1724952" cy="13187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24952" cy="1318721"/>
            </a:xfrm>
            <a:custGeom>
              <a:avLst/>
              <a:gdLst/>
              <a:ahLst/>
              <a:cxnLst/>
              <a:rect r="r" b="b" t="t" l="l"/>
              <a:pathLst>
                <a:path h="1318721" w="1724952">
                  <a:moveTo>
                    <a:pt x="41765" y="0"/>
                  </a:moveTo>
                  <a:lnTo>
                    <a:pt x="1683186" y="0"/>
                  </a:lnTo>
                  <a:cubicBezTo>
                    <a:pt x="1694263" y="0"/>
                    <a:pt x="1704886" y="4400"/>
                    <a:pt x="1712719" y="12233"/>
                  </a:cubicBezTo>
                  <a:cubicBezTo>
                    <a:pt x="1720551" y="20065"/>
                    <a:pt x="1724952" y="30689"/>
                    <a:pt x="1724952" y="41765"/>
                  </a:cubicBezTo>
                  <a:lnTo>
                    <a:pt x="1724952" y="1276956"/>
                  </a:lnTo>
                  <a:cubicBezTo>
                    <a:pt x="1724952" y="1288033"/>
                    <a:pt x="1720551" y="1298656"/>
                    <a:pt x="1712719" y="1306488"/>
                  </a:cubicBezTo>
                  <a:cubicBezTo>
                    <a:pt x="1704886" y="1314321"/>
                    <a:pt x="1694263" y="1318721"/>
                    <a:pt x="1683186" y="1318721"/>
                  </a:cubicBezTo>
                  <a:lnTo>
                    <a:pt x="41765" y="1318721"/>
                  </a:lnTo>
                  <a:cubicBezTo>
                    <a:pt x="30689" y="1318721"/>
                    <a:pt x="20065" y="1314321"/>
                    <a:pt x="12233" y="1306488"/>
                  </a:cubicBezTo>
                  <a:cubicBezTo>
                    <a:pt x="4400" y="1298656"/>
                    <a:pt x="0" y="1288033"/>
                    <a:pt x="0" y="1276956"/>
                  </a:cubicBezTo>
                  <a:lnTo>
                    <a:pt x="0" y="41765"/>
                  </a:lnTo>
                  <a:cubicBezTo>
                    <a:pt x="0" y="30689"/>
                    <a:pt x="4400" y="20065"/>
                    <a:pt x="12233" y="12233"/>
                  </a:cubicBezTo>
                  <a:cubicBezTo>
                    <a:pt x="20065" y="4400"/>
                    <a:pt x="30689" y="0"/>
                    <a:pt x="41765" y="0"/>
                  </a:cubicBezTo>
                  <a:close/>
                </a:path>
              </a:pathLst>
            </a:custGeom>
            <a:blipFill>
              <a:blip r:embed="rId8"/>
              <a:stretch>
                <a:fillRect l="-545" t="0" r="-545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9734" y="832902"/>
            <a:ext cx="269566" cy="179598"/>
          </a:xfrm>
          <a:custGeom>
            <a:avLst/>
            <a:gdLst/>
            <a:ahLst/>
            <a:cxnLst/>
            <a:rect r="r" b="b" t="t" l="l"/>
            <a:pathLst>
              <a:path h="179598" w="269566">
                <a:moveTo>
                  <a:pt x="0" y="0"/>
                </a:moveTo>
                <a:lnTo>
                  <a:pt x="269566" y="0"/>
                </a:lnTo>
                <a:lnTo>
                  <a:pt x="269566" y="179598"/>
                </a:lnTo>
                <a:lnTo>
                  <a:pt x="0" y="179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66321" y="4021447"/>
            <a:ext cx="5792979" cy="5236853"/>
            <a:chOff x="0" y="0"/>
            <a:chExt cx="6350000" cy="5740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4"/>
              <a:stretch>
                <a:fillRect l="-433" t="0" r="-433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6895434"/>
            <a:ext cx="7958552" cy="169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8"/>
              </a:lnSpc>
            </a:pPr>
            <a:r>
              <a:rPr lang="en-US" b="true" sz="6709" spc="-134">
                <a:solidFill>
                  <a:srgbClr val="38B6FF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ENVIRONMENT CONCEPTS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19353" y="2518472"/>
            <a:ext cx="3341481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2"/>
              </a:lnSpc>
            </a:pPr>
            <a:r>
              <a:rPr lang="en-US" sz="1377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Understanding the Linux filesystem structure, navigating directories with pwd, ls, and cd, and managing files using mkdir, touch, cp, mv, and rm for organized project structure.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19353" y="2196301"/>
            <a:ext cx="334148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8"/>
              </a:lnSpc>
            </a:pPr>
            <a:r>
              <a:rPr lang="en-US" b="true" sz="1573" spc="-62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Files &amp; Directories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19353" y="4324568"/>
            <a:ext cx="335636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2"/>
              </a:lnSpc>
            </a:pPr>
            <a:r>
              <a:rPr lang="en-US" sz="1377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Managing file and directory access using chmod, understanding read, write, and execute permission flags, and controlling user-level access across the development environment.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19353" y="4002397"/>
            <a:ext cx="335636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8"/>
              </a:lnSpc>
            </a:pPr>
            <a:r>
              <a:rPr lang="en-US" b="true" sz="1573" spc="-62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Permissions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66321" y="2518472"/>
            <a:ext cx="3341481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2"/>
              </a:lnSpc>
            </a:pPr>
            <a:r>
              <a:rPr lang="en-US" sz="1377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Monitoring active processes with ps and top, checking network connectivity via curl and ping, and understanding how services bind to ports for local development and debugging.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66321" y="2196301"/>
            <a:ext cx="334148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8"/>
              </a:lnSpc>
            </a:pPr>
            <a:r>
              <a:rPr lang="en-US" b="true" sz="1573" spc="-62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Processes &amp; Ports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489998" y="2215351"/>
            <a:ext cx="769302" cy="440600"/>
          </a:xfrm>
          <a:custGeom>
            <a:avLst/>
            <a:gdLst/>
            <a:ahLst/>
            <a:cxnLst/>
            <a:rect r="r" b="b" t="t" l="l"/>
            <a:pathLst>
              <a:path h="440600" w="769302">
                <a:moveTo>
                  <a:pt x="0" y="0"/>
                </a:moveTo>
                <a:lnTo>
                  <a:pt x="769302" y="0"/>
                </a:lnTo>
                <a:lnTo>
                  <a:pt x="769302" y="440600"/>
                </a:lnTo>
                <a:lnTo>
                  <a:pt x="0" y="440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087043" y="7978881"/>
            <a:ext cx="416965" cy="118782"/>
            <a:chOff x="0" y="0"/>
            <a:chExt cx="109818" cy="312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818" cy="31284"/>
            </a:xfrm>
            <a:custGeom>
              <a:avLst/>
              <a:gdLst/>
              <a:ahLst/>
              <a:cxnLst/>
              <a:rect r="r" b="b" t="t" l="l"/>
              <a:pathLst>
                <a:path h="31284" w="109818">
                  <a:moveTo>
                    <a:pt x="15642" y="0"/>
                  </a:moveTo>
                  <a:lnTo>
                    <a:pt x="94176" y="0"/>
                  </a:lnTo>
                  <a:cubicBezTo>
                    <a:pt x="98324" y="0"/>
                    <a:pt x="102303" y="1648"/>
                    <a:pt x="105236" y="4581"/>
                  </a:cubicBezTo>
                  <a:cubicBezTo>
                    <a:pt x="108170" y="7515"/>
                    <a:pt x="109818" y="11494"/>
                    <a:pt x="109818" y="15642"/>
                  </a:cubicBezTo>
                  <a:lnTo>
                    <a:pt x="109818" y="15642"/>
                  </a:lnTo>
                  <a:cubicBezTo>
                    <a:pt x="109818" y="19791"/>
                    <a:pt x="108170" y="23769"/>
                    <a:pt x="105236" y="26703"/>
                  </a:cubicBezTo>
                  <a:cubicBezTo>
                    <a:pt x="102303" y="29636"/>
                    <a:pt x="98324" y="31284"/>
                    <a:pt x="94176" y="31284"/>
                  </a:cubicBezTo>
                  <a:lnTo>
                    <a:pt x="15642" y="31284"/>
                  </a:lnTo>
                  <a:cubicBezTo>
                    <a:pt x="11494" y="31284"/>
                    <a:pt x="7515" y="29636"/>
                    <a:pt x="4581" y="26703"/>
                  </a:cubicBezTo>
                  <a:cubicBezTo>
                    <a:pt x="1648" y="23769"/>
                    <a:pt x="0" y="19791"/>
                    <a:pt x="0" y="15642"/>
                  </a:cubicBezTo>
                  <a:lnTo>
                    <a:pt x="0" y="15642"/>
                  </a:lnTo>
                  <a:cubicBezTo>
                    <a:pt x="0" y="11494"/>
                    <a:pt x="1648" y="7515"/>
                    <a:pt x="4581" y="4581"/>
                  </a:cubicBezTo>
                  <a:cubicBezTo>
                    <a:pt x="7515" y="1648"/>
                    <a:pt x="11494" y="0"/>
                    <a:pt x="15642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9818" cy="88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2207863"/>
            <a:ext cx="3578772" cy="2935637"/>
            <a:chOff x="0" y="0"/>
            <a:chExt cx="1189381" cy="9756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9381" cy="975639"/>
            </a:xfrm>
            <a:custGeom>
              <a:avLst/>
              <a:gdLst/>
              <a:ahLst/>
              <a:cxnLst/>
              <a:rect r="r" b="b" t="t" l="l"/>
              <a:pathLst>
                <a:path h="975639" w="1189381">
                  <a:moveTo>
                    <a:pt x="60572" y="0"/>
                  </a:moveTo>
                  <a:lnTo>
                    <a:pt x="1128809" y="0"/>
                  </a:lnTo>
                  <a:cubicBezTo>
                    <a:pt x="1162262" y="0"/>
                    <a:pt x="1189381" y="27119"/>
                    <a:pt x="1189381" y="60572"/>
                  </a:cubicBezTo>
                  <a:lnTo>
                    <a:pt x="1189381" y="915067"/>
                  </a:lnTo>
                  <a:cubicBezTo>
                    <a:pt x="1189381" y="948520"/>
                    <a:pt x="1162262" y="975639"/>
                    <a:pt x="1128809" y="975639"/>
                  </a:cubicBezTo>
                  <a:lnTo>
                    <a:pt x="60572" y="975639"/>
                  </a:lnTo>
                  <a:cubicBezTo>
                    <a:pt x="27119" y="975639"/>
                    <a:pt x="0" y="948520"/>
                    <a:pt x="0" y="915067"/>
                  </a:cubicBezTo>
                  <a:lnTo>
                    <a:pt x="0" y="60572"/>
                  </a:lnTo>
                  <a:cubicBezTo>
                    <a:pt x="0" y="27119"/>
                    <a:pt x="27119" y="0"/>
                    <a:pt x="60572" y="0"/>
                  </a:cubicBezTo>
                  <a:close/>
                </a:path>
              </a:pathLst>
            </a:custGeom>
            <a:blipFill>
              <a:blip r:embed="rId7"/>
              <a:stretch>
                <a:fillRect l="-247" t="0" r="-247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9734" y="832902"/>
            <a:ext cx="269566" cy="179598"/>
          </a:xfrm>
          <a:custGeom>
            <a:avLst/>
            <a:gdLst/>
            <a:ahLst/>
            <a:cxnLst/>
            <a:rect r="r" b="b" t="t" l="l"/>
            <a:pathLst>
              <a:path h="179598" w="269566">
                <a:moveTo>
                  <a:pt x="0" y="0"/>
                </a:moveTo>
                <a:lnTo>
                  <a:pt x="269566" y="0"/>
                </a:lnTo>
                <a:lnTo>
                  <a:pt x="269566" y="179598"/>
                </a:lnTo>
                <a:lnTo>
                  <a:pt x="0" y="179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81487" y="2215351"/>
            <a:ext cx="8777813" cy="7042949"/>
            <a:chOff x="0" y="0"/>
            <a:chExt cx="1931770" cy="15499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31775" cy="1549972"/>
            </a:xfrm>
            <a:custGeom>
              <a:avLst/>
              <a:gdLst/>
              <a:ahLst/>
              <a:cxnLst/>
              <a:rect r="r" b="b" t="t" l="l"/>
              <a:pathLst>
                <a:path h="1549972" w="1931775">
                  <a:moveTo>
                    <a:pt x="565658" y="99126"/>
                  </a:moveTo>
                  <a:lnTo>
                    <a:pt x="565658" y="499584"/>
                  </a:lnTo>
                  <a:cubicBezTo>
                    <a:pt x="565658" y="525874"/>
                    <a:pt x="555214" y="551087"/>
                    <a:pt x="536624" y="569677"/>
                  </a:cubicBezTo>
                  <a:cubicBezTo>
                    <a:pt x="518034" y="588267"/>
                    <a:pt x="492821" y="598710"/>
                    <a:pt x="466531" y="598710"/>
                  </a:cubicBezTo>
                  <a:lnTo>
                    <a:pt x="99126" y="598710"/>
                  </a:lnTo>
                  <a:cubicBezTo>
                    <a:pt x="72836" y="598710"/>
                    <a:pt x="47623" y="609153"/>
                    <a:pt x="29033" y="627743"/>
                  </a:cubicBezTo>
                  <a:cubicBezTo>
                    <a:pt x="10444" y="646333"/>
                    <a:pt x="0" y="671546"/>
                    <a:pt x="0" y="697836"/>
                  </a:cubicBezTo>
                  <a:lnTo>
                    <a:pt x="0" y="862855"/>
                  </a:lnTo>
                  <a:lnTo>
                    <a:pt x="0" y="1235980"/>
                  </a:lnTo>
                  <a:cubicBezTo>
                    <a:pt x="0" y="1259531"/>
                    <a:pt x="8385" y="1282311"/>
                    <a:pt x="23652" y="1300243"/>
                  </a:cubicBezTo>
                  <a:lnTo>
                    <a:pt x="206607" y="1515110"/>
                  </a:lnTo>
                  <a:cubicBezTo>
                    <a:pt x="225441" y="1537228"/>
                    <a:pt x="253030" y="1549972"/>
                    <a:pt x="282081" y="1549972"/>
                  </a:cubicBezTo>
                  <a:lnTo>
                    <a:pt x="1649691" y="1549972"/>
                  </a:lnTo>
                  <a:cubicBezTo>
                    <a:pt x="1678743" y="1549973"/>
                    <a:pt x="1706333" y="1537230"/>
                    <a:pt x="1725168" y="1515110"/>
                  </a:cubicBezTo>
                  <a:lnTo>
                    <a:pt x="1908122" y="1300246"/>
                  </a:lnTo>
                  <a:cubicBezTo>
                    <a:pt x="1923389" y="1282315"/>
                    <a:pt x="1931775" y="1259535"/>
                    <a:pt x="1931775" y="1235984"/>
                  </a:cubicBezTo>
                  <a:lnTo>
                    <a:pt x="1931775" y="970629"/>
                  </a:lnTo>
                  <a:lnTo>
                    <a:pt x="1931775" y="99126"/>
                  </a:lnTo>
                  <a:cubicBezTo>
                    <a:pt x="1931775" y="72835"/>
                    <a:pt x="1921331" y="47621"/>
                    <a:pt x="1902740" y="29032"/>
                  </a:cubicBezTo>
                  <a:cubicBezTo>
                    <a:pt x="1884150" y="10442"/>
                    <a:pt x="1858935" y="-1"/>
                    <a:pt x="1832644" y="0"/>
                  </a:cubicBezTo>
                  <a:lnTo>
                    <a:pt x="664789" y="0"/>
                  </a:lnTo>
                  <a:cubicBezTo>
                    <a:pt x="638498" y="-1"/>
                    <a:pt x="613284" y="10442"/>
                    <a:pt x="594693" y="29032"/>
                  </a:cubicBezTo>
                  <a:cubicBezTo>
                    <a:pt x="576102" y="47621"/>
                    <a:pt x="565658" y="72835"/>
                    <a:pt x="565658" y="99126"/>
                  </a:cubicBezTo>
                  <a:close/>
                </a:path>
              </a:pathLst>
            </a:custGeom>
            <a:blipFill>
              <a:blip r:embed="rId4"/>
              <a:stretch>
                <a:fillRect l="0" t="-164" r="0" b="-164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135860" y="4923200"/>
            <a:ext cx="574645" cy="329115"/>
          </a:xfrm>
          <a:custGeom>
            <a:avLst/>
            <a:gdLst/>
            <a:ahLst/>
            <a:cxnLst/>
            <a:rect r="r" b="b" t="t" l="l"/>
            <a:pathLst>
              <a:path h="329115" w="574645">
                <a:moveTo>
                  <a:pt x="0" y="0"/>
                </a:moveTo>
                <a:lnTo>
                  <a:pt x="574645" y="0"/>
                </a:lnTo>
                <a:lnTo>
                  <a:pt x="574645" y="329115"/>
                </a:lnTo>
                <a:lnTo>
                  <a:pt x="0" y="329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040631" y="7353300"/>
            <a:ext cx="416965" cy="118782"/>
            <a:chOff x="0" y="0"/>
            <a:chExt cx="109818" cy="31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18" cy="31284"/>
            </a:xfrm>
            <a:custGeom>
              <a:avLst/>
              <a:gdLst/>
              <a:ahLst/>
              <a:cxnLst/>
              <a:rect r="r" b="b" t="t" l="l"/>
              <a:pathLst>
                <a:path h="31284" w="109818">
                  <a:moveTo>
                    <a:pt x="15642" y="0"/>
                  </a:moveTo>
                  <a:lnTo>
                    <a:pt x="94176" y="0"/>
                  </a:lnTo>
                  <a:cubicBezTo>
                    <a:pt x="98324" y="0"/>
                    <a:pt x="102303" y="1648"/>
                    <a:pt x="105236" y="4581"/>
                  </a:cubicBezTo>
                  <a:cubicBezTo>
                    <a:pt x="108170" y="7515"/>
                    <a:pt x="109818" y="11494"/>
                    <a:pt x="109818" y="15642"/>
                  </a:cubicBezTo>
                  <a:lnTo>
                    <a:pt x="109818" y="15642"/>
                  </a:lnTo>
                  <a:cubicBezTo>
                    <a:pt x="109818" y="19791"/>
                    <a:pt x="108170" y="23769"/>
                    <a:pt x="105236" y="26703"/>
                  </a:cubicBezTo>
                  <a:cubicBezTo>
                    <a:pt x="102303" y="29636"/>
                    <a:pt x="98324" y="31284"/>
                    <a:pt x="94176" y="31284"/>
                  </a:cubicBezTo>
                  <a:lnTo>
                    <a:pt x="15642" y="31284"/>
                  </a:lnTo>
                  <a:cubicBezTo>
                    <a:pt x="11494" y="31284"/>
                    <a:pt x="7515" y="29636"/>
                    <a:pt x="4581" y="26703"/>
                  </a:cubicBezTo>
                  <a:cubicBezTo>
                    <a:pt x="1648" y="23769"/>
                    <a:pt x="0" y="19791"/>
                    <a:pt x="0" y="15642"/>
                  </a:cubicBezTo>
                  <a:lnTo>
                    <a:pt x="0" y="15642"/>
                  </a:lnTo>
                  <a:cubicBezTo>
                    <a:pt x="0" y="11494"/>
                    <a:pt x="1648" y="7515"/>
                    <a:pt x="4581" y="4581"/>
                  </a:cubicBezTo>
                  <a:cubicBezTo>
                    <a:pt x="7515" y="1648"/>
                    <a:pt x="11494" y="0"/>
                    <a:pt x="15642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9818" cy="88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040631" y="4879061"/>
            <a:ext cx="2578759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7"/>
              </a:lnSpc>
              <a:spcBef>
                <a:spcPct val="0"/>
              </a:spcBef>
            </a:pPr>
            <a:r>
              <a:rPr lang="en-US" sz="1439" spc="-5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Project Setup:</a:t>
            </a:r>
          </a:p>
          <a:p>
            <a:pPr algn="l" marL="0" indent="0" lvl="0">
              <a:lnSpc>
                <a:spcPts val="1727"/>
              </a:lnSpc>
              <a:spcBef>
                <a:spcPct val="0"/>
              </a:spcBef>
            </a:pPr>
            <a:r>
              <a:rPr lang="en-US" sz="1439" spc="-5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• Created project folder structure</a:t>
            </a:r>
          </a:p>
          <a:p>
            <a:pPr algn="l" marL="0" indent="0" lvl="0">
              <a:lnSpc>
                <a:spcPts val="1727"/>
              </a:lnSpc>
              <a:spcBef>
                <a:spcPct val="0"/>
              </a:spcBef>
            </a:pPr>
            <a:r>
              <a:rPr lang="en-US" sz="1439" spc="-5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• Set up Python virtual environment</a:t>
            </a:r>
          </a:p>
          <a:p>
            <a:pPr algn="l" marL="0" indent="0" lvl="0">
              <a:lnSpc>
                <a:spcPts val="1727"/>
              </a:lnSpc>
              <a:spcBef>
                <a:spcPct val="0"/>
              </a:spcBef>
            </a:pPr>
            <a:r>
              <a:rPr lang="en-US" sz="1439" spc="-5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• Installed packages via pip</a:t>
            </a:r>
          </a:p>
          <a:p>
            <a:pPr algn="l" marL="0" indent="0" lvl="0">
              <a:lnSpc>
                <a:spcPts val="1727"/>
              </a:lnSpc>
              <a:spcBef>
                <a:spcPct val="0"/>
              </a:spcBef>
            </a:pPr>
            <a:r>
              <a:rPr lang="en-US" sz="1439" spc="-5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• Created .env.example file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9175" y="2177251"/>
            <a:ext cx="9793854" cy="16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28"/>
              </a:lnSpc>
            </a:pPr>
            <a:r>
              <a:rPr lang="en-US" b="true" sz="6420" spc="-128">
                <a:solidFill>
                  <a:srgbClr val="38B6FF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DAY 3 – PRACTICAL 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439150"/>
            <a:ext cx="284079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7"/>
              </a:lnSpc>
            </a:pPr>
            <a:r>
              <a:rPr lang="en-US" b="true" sz="2598" spc="-103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Hands-On</a:t>
            </a:r>
          </a:p>
          <a:p>
            <a:pPr algn="l" marL="0" indent="0" lvl="0">
              <a:lnSpc>
                <a:spcPts val="3117"/>
              </a:lnSpc>
            </a:pPr>
            <a:r>
              <a:rPr lang="en-US" b="true" sz="2598" spc="-103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Exercises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31746" y="7324725"/>
            <a:ext cx="2578759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7"/>
              </a:lnSpc>
              <a:spcBef>
                <a:spcPct val="0"/>
              </a:spcBef>
            </a:pPr>
            <a:r>
              <a:rPr lang="en-US" b="true" sz="1439" spc="-57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Verification Steps:</a:t>
            </a:r>
          </a:p>
          <a:p>
            <a:pPr algn="l" marL="0" indent="0" lvl="0">
              <a:lnSpc>
                <a:spcPts val="1727"/>
              </a:lnSpc>
              <a:spcBef>
                <a:spcPct val="0"/>
              </a:spcBef>
            </a:pPr>
            <a:r>
              <a:rPr lang="en-US" b="true" sz="1439" spc="-57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• Verified PostgreSQL running &amp; accessible</a:t>
            </a:r>
          </a:p>
          <a:p>
            <a:pPr algn="l" marL="0" indent="0" lvl="0">
              <a:lnSpc>
                <a:spcPts val="1727"/>
              </a:lnSpc>
              <a:spcBef>
                <a:spcPct val="0"/>
              </a:spcBef>
            </a:pPr>
            <a:r>
              <a:rPr lang="en-US" b="true" sz="1439" spc="-57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• Confirmed Docker daemon active</a:t>
            </a:r>
          </a:p>
          <a:p>
            <a:pPr algn="l" marL="0" indent="0" lvl="0">
              <a:lnSpc>
                <a:spcPts val="1727"/>
              </a:lnSpc>
              <a:spcBef>
                <a:spcPct val="0"/>
              </a:spcBef>
            </a:pPr>
            <a:r>
              <a:rPr lang="en-US" b="true" sz="1439" spc="-57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• Checked localhost in browser</a:t>
            </a:r>
          </a:p>
          <a:p>
            <a:pPr algn="l" marL="0" indent="0" lvl="0">
              <a:lnSpc>
                <a:spcPts val="1727"/>
              </a:lnSpc>
              <a:spcBef>
                <a:spcPct val="0"/>
              </a:spcBef>
            </a:pPr>
            <a:r>
              <a:rPr lang="en-US" b="true" sz="1439" spc="-57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• Tested environment variables loaded correctly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4923200"/>
            <a:ext cx="2349432" cy="2430100"/>
            <a:chOff x="0" y="0"/>
            <a:chExt cx="780818" cy="8076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818" cy="807627"/>
            </a:xfrm>
            <a:custGeom>
              <a:avLst/>
              <a:gdLst/>
              <a:ahLst/>
              <a:cxnLst/>
              <a:rect r="r" b="b" t="t" l="l"/>
              <a:pathLst>
                <a:path h="807627" w="780818">
                  <a:moveTo>
                    <a:pt x="92266" y="0"/>
                  </a:moveTo>
                  <a:lnTo>
                    <a:pt x="688551" y="0"/>
                  </a:lnTo>
                  <a:cubicBezTo>
                    <a:pt x="713022" y="0"/>
                    <a:pt x="736490" y="9721"/>
                    <a:pt x="753794" y="27024"/>
                  </a:cubicBezTo>
                  <a:cubicBezTo>
                    <a:pt x="771097" y="44328"/>
                    <a:pt x="780818" y="67796"/>
                    <a:pt x="780818" y="92266"/>
                  </a:cubicBezTo>
                  <a:lnTo>
                    <a:pt x="780818" y="715361"/>
                  </a:lnTo>
                  <a:cubicBezTo>
                    <a:pt x="780818" y="766318"/>
                    <a:pt x="739509" y="807627"/>
                    <a:pt x="688551" y="807627"/>
                  </a:cubicBezTo>
                  <a:lnTo>
                    <a:pt x="92266" y="807627"/>
                  </a:lnTo>
                  <a:cubicBezTo>
                    <a:pt x="67796" y="807627"/>
                    <a:pt x="44328" y="797906"/>
                    <a:pt x="27024" y="780603"/>
                  </a:cubicBezTo>
                  <a:cubicBezTo>
                    <a:pt x="9721" y="763300"/>
                    <a:pt x="0" y="739831"/>
                    <a:pt x="0" y="715361"/>
                  </a:cubicBezTo>
                  <a:lnTo>
                    <a:pt x="0" y="92266"/>
                  </a:lnTo>
                  <a:cubicBezTo>
                    <a:pt x="0" y="67796"/>
                    <a:pt x="9721" y="44328"/>
                    <a:pt x="27024" y="27024"/>
                  </a:cubicBezTo>
                  <a:cubicBezTo>
                    <a:pt x="44328" y="9721"/>
                    <a:pt x="67796" y="0"/>
                    <a:pt x="92266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684" r="0" b="-684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30082" y="3437281"/>
            <a:ext cx="1728788" cy="1600200"/>
            <a:chOff x="0" y="0"/>
            <a:chExt cx="455319" cy="4214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319" cy="421452"/>
            </a:xfrm>
            <a:custGeom>
              <a:avLst/>
              <a:gdLst/>
              <a:ahLst/>
              <a:cxnLst/>
              <a:rect r="r" b="b" t="t" l="l"/>
              <a:pathLst>
                <a:path h="421452" w="455319">
                  <a:moveTo>
                    <a:pt x="203200" y="0"/>
                  </a:moveTo>
                  <a:lnTo>
                    <a:pt x="252119" y="0"/>
                  </a:lnTo>
                  <a:lnTo>
                    <a:pt x="455319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28575"/>
              <a:ext cx="201319" cy="450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82582" y="2899118"/>
            <a:ext cx="1552575" cy="2667000"/>
            <a:chOff x="0" y="0"/>
            <a:chExt cx="588238" cy="10104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4843706" y="5023857"/>
            <a:ext cx="613074" cy="640321"/>
            <a:chOff x="0" y="0"/>
            <a:chExt cx="571500" cy="596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69875"/>
              <a:ext cx="285750" cy="325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5169387" y="9239250"/>
            <a:ext cx="1702639" cy="0"/>
          </a:xfrm>
          <a:prstGeom prst="line">
            <a:avLst/>
          </a:prstGeom>
          <a:ln cap="flat" w="38100">
            <a:solidFill>
              <a:srgbClr val="FFAB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54927" y="3437281"/>
            <a:ext cx="1728788" cy="1600200"/>
            <a:chOff x="0" y="0"/>
            <a:chExt cx="455319" cy="4214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5319" cy="421452"/>
            </a:xfrm>
            <a:custGeom>
              <a:avLst/>
              <a:gdLst/>
              <a:ahLst/>
              <a:cxnLst/>
              <a:rect r="r" b="b" t="t" l="l"/>
              <a:pathLst>
                <a:path h="421452" w="455319">
                  <a:moveTo>
                    <a:pt x="203200" y="0"/>
                  </a:moveTo>
                  <a:lnTo>
                    <a:pt x="252119" y="0"/>
                  </a:lnTo>
                  <a:lnTo>
                    <a:pt x="455319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-28575"/>
              <a:ext cx="201319" cy="450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07427" y="2899118"/>
            <a:ext cx="1552575" cy="2667000"/>
            <a:chOff x="0" y="0"/>
            <a:chExt cx="588238" cy="1010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968551" y="5023857"/>
            <a:ext cx="613074" cy="640321"/>
            <a:chOff x="0" y="0"/>
            <a:chExt cx="571500" cy="5969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69875"/>
              <a:ext cx="285750" cy="325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294232" y="9239250"/>
            <a:ext cx="1702639" cy="0"/>
          </a:xfrm>
          <a:prstGeom prst="line">
            <a:avLst/>
          </a:prstGeom>
          <a:ln cap="flat" w="38100">
            <a:solidFill>
              <a:srgbClr val="36B58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3729958" y="3437281"/>
            <a:ext cx="1728788" cy="1600200"/>
            <a:chOff x="0" y="0"/>
            <a:chExt cx="455319" cy="4214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5319" cy="421452"/>
            </a:xfrm>
            <a:custGeom>
              <a:avLst/>
              <a:gdLst/>
              <a:ahLst/>
              <a:cxnLst/>
              <a:rect r="r" b="b" t="t" l="l"/>
              <a:pathLst>
                <a:path h="421452" w="455319">
                  <a:moveTo>
                    <a:pt x="203200" y="0"/>
                  </a:moveTo>
                  <a:lnTo>
                    <a:pt x="252119" y="0"/>
                  </a:lnTo>
                  <a:lnTo>
                    <a:pt x="455319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-28575"/>
              <a:ext cx="201319" cy="450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82458" y="2899118"/>
            <a:ext cx="1552575" cy="2667000"/>
            <a:chOff x="0" y="0"/>
            <a:chExt cx="588238" cy="10104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3743582" y="5023857"/>
            <a:ext cx="613074" cy="640321"/>
            <a:chOff x="0" y="0"/>
            <a:chExt cx="571500" cy="596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69875"/>
              <a:ext cx="285750" cy="325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4069263" y="9239250"/>
            <a:ext cx="1702639" cy="0"/>
          </a:xfrm>
          <a:prstGeom prst="line">
            <a:avLst/>
          </a:prstGeom>
          <a:ln cap="flat" w="38100">
            <a:solidFill>
              <a:srgbClr val="00A99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6504989" y="3437281"/>
            <a:ext cx="1728788" cy="1600200"/>
            <a:chOff x="0" y="0"/>
            <a:chExt cx="455319" cy="4214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5319" cy="421452"/>
            </a:xfrm>
            <a:custGeom>
              <a:avLst/>
              <a:gdLst/>
              <a:ahLst/>
              <a:cxnLst/>
              <a:rect r="r" b="b" t="t" l="l"/>
              <a:pathLst>
                <a:path h="421452" w="455319">
                  <a:moveTo>
                    <a:pt x="203200" y="0"/>
                  </a:moveTo>
                  <a:lnTo>
                    <a:pt x="252119" y="0"/>
                  </a:lnTo>
                  <a:lnTo>
                    <a:pt x="455319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-28575"/>
              <a:ext cx="201319" cy="450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457489" y="2899118"/>
            <a:ext cx="1552575" cy="2667000"/>
            <a:chOff x="0" y="0"/>
            <a:chExt cx="588238" cy="10104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6518613" y="5023857"/>
            <a:ext cx="613074" cy="640321"/>
            <a:chOff x="0" y="0"/>
            <a:chExt cx="571500" cy="5969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269875"/>
              <a:ext cx="285750" cy="325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AutoShape 41" id="41"/>
          <p:cNvSpPr/>
          <p:nvPr/>
        </p:nvSpPr>
        <p:spPr>
          <a:xfrm>
            <a:off x="6844294" y="9239250"/>
            <a:ext cx="1702639" cy="0"/>
          </a:xfrm>
          <a:prstGeom prst="line">
            <a:avLst/>
          </a:prstGeom>
          <a:ln cap="flat" w="38100">
            <a:solidFill>
              <a:srgbClr val="009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9280020" y="3437281"/>
            <a:ext cx="1728788" cy="1600200"/>
            <a:chOff x="0" y="0"/>
            <a:chExt cx="455319" cy="4214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5319" cy="421452"/>
            </a:xfrm>
            <a:custGeom>
              <a:avLst/>
              <a:gdLst/>
              <a:ahLst/>
              <a:cxnLst/>
              <a:rect r="r" b="b" t="t" l="l"/>
              <a:pathLst>
                <a:path h="421452" w="455319">
                  <a:moveTo>
                    <a:pt x="203200" y="0"/>
                  </a:moveTo>
                  <a:lnTo>
                    <a:pt x="252119" y="0"/>
                  </a:lnTo>
                  <a:lnTo>
                    <a:pt x="455319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27000" y="-28575"/>
              <a:ext cx="201319" cy="450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32520" y="2899118"/>
            <a:ext cx="1552575" cy="2667000"/>
            <a:chOff x="0" y="0"/>
            <a:chExt cx="588238" cy="1010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5400000">
            <a:off x="9293644" y="5023857"/>
            <a:ext cx="613074" cy="640321"/>
            <a:chOff x="0" y="0"/>
            <a:chExt cx="571500" cy="5969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269875"/>
              <a:ext cx="285750" cy="325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AutoShape 51" id="51"/>
          <p:cNvSpPr/>
          <p:nvPr/>
        </p:nvSpPr>
        <p:spPr>
          <a:xfrm>
            <a:off x="9619325" y="9239250"/>
            <a:ext cx="1702639" cy="0"/>
          </a:xfrm>
          <a:prstGeom prst="line">
            <a:avLst/>
          </a:prstGeom>
          <a:ln cap="flat" w="38100">
            <a:solidFill>
              <a:srgbClr val="0085A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2055051" y="3437281"/>
            <a:ext cx="1728788" cy="1600200"/>
            <a:chOff x="0" y="0"/>
            <a:chExt cx="455319" cy="4214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5319" cy="421452"/>
            </a:xfrm>
            <a:custGeom>
              <a:avLst/>
              <a:gdLst/>
              <a:ahLst/>
              <a:cxnLst/>
              <a:rect r="r" b="b" t="t" l="l"/>
              <a:pathLst>
                <a:path h="421452" w="455319">
                  <a:moveTo>
                    <a:pt x="203200" y="0"/>
                  </a:moveTo>
                  <a:lnTo>
                    <a:pt x="252119" y="0"/>
                  </a:lnTo>
                  <a:lnTo>
                    <a:pt x="455319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127000" y="-28575"/>
              <a:ext cx="201319" cy="450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007551" y="2899118"/>
            <a:ext cx="1552575" cy="2667000"/>
            <a:chOff x="0" y="0"/>
            <a:chExt cx="588238" cy="10104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5400000">
            <a:off x="12068675" y="5023857"/>
            <a:ext cx="613074" cy="640321"/>
            <a:chOff x="0" y="0"/>
            <a:chExt cx="571500" cy="5969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269875"/>
              <a:ext cx="285750" cy="325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AutoShape 61" id="61"/>
          <p:cNvSpPr/>
          <p:nvPr/>
        </p:nvSpPr>
        <p:spPr>
          <a:xfrm>
            <a:off x="12394356" y="9239250"/>
            <a:ext cx="1702639" cy="0"/>
          </a:xfrm>
          <a:prstGeom prst="line">
            <a:avLst/>
          </a:prstGeom>
          <a:ln cap="flat" w="38100">
            <a:solidFill>
              <a:srgbClr val="0071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3739483" y="6078709"/>
            <a:ext cx="0" cy="2350299"/>
          </a:xfrm>
          <a:prstGeom prst="line">
            <a:avLst/>
          </a:prstGeom>
          <a:ln cap="flat" w="19050">
            <a:solidFill>
              <a:srgbClr val="C1C7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6495464" y="6078709"/>
            <a:ext cx="0" cy="2350299"/>
          </a:xfrm>
          <a:prstGeom prst="line">
            <a:avLst/>
          </a:prstGeom>
          <a:ln cap="flat" w="19050">
            <a:solidFill>
              <a:srgbClr val="C1C7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9251445" y="6078709"/>
            <a:ext cx="0" cy="2350299"/>
          </a:xfrm>
          <a:prstGeom prst="line">
            <a:avLst/>
          </a:prstGeom>
          <a:ln cap="flat" w="19050">
            <a:solidFill>
              <a:srgbClr val="C1C7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12007426" y="6078709"/>
            <a:ext cx="0" cy="2350299"/>
          </a:xfrm>
          <a:prstGeom prst="line">
            <a:avLst/>
          </a:prstGeom>
          <a:ln cap="flat" w="19050">
            <a:solidFill>
              <a:srgbClr val="C1C7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14839607" y="6078709"/>
            <a:ext cx="0" cy="2350299"/>
          </a:xfrm>
          <a:prstGeom prst="line">
            <a:avLst/>
          </a:prstGeom>
          <a:ln cap="flat" w="19050">
            <a:solidFill>
              <a:srgbClr val="C1C7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7" id="67"/>
          <p:cNvSpPr/>
          <p:nvPr/>
        </p:nvSpPr>
        <p:spPr>
          <a:xfrm flipH="false" flipV="false" rot="0">
            <a:off x="1975081" y="3931045"/>
            <a:ext cx="569388" cy="600635"/>
          </a:xfrm>
          <a:custGeom>
            <a:avLst/>
            <a:gdLst/>
            <a:ahLst/>
            <a:cxnLst/>
            <a:rect r="r" b="b" t="t" l="l"/>
            <a:pathLst>
              <a:path h="600635" w="569388">
                <a:moveTo>
                  <a:pt x="0" y="0"/>
                </a:moveTo>
                <a:lnTo>
                  <a:pt x="569388" y="0"/>
                </a:lnTo>
                <a:lnTo>
                  <a:pt x="569388" y="600636"/>
                </a:lnTo>
                <a:lnTo>
                  <a:pt x="0" y="600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4724489" y="3886752"/>
            <a:ext cx="596817" cy="676393"/>
          </a:xfrm>
          <a:custGeom>
            <a:avLst/>
            <a:gdLst/>
            <a:ahLst/>
            <a:cxnLst/>
            <a:rect r="r" b="b" t="t" l="l"/>
            <a:pathLst>
              <a:path h="676393" w="596817">
                <a:moveTo>
                  <a:pt x="0" y="0"/>
                </a:moveTo>
                <a:lnTo>
                  <a:pt x="596817" y="0"/>
                </a:lnTo>
                <a:lnTo>
                  <a:pt x="596817" y="676393"/>
                </a:lnTo>
                <a:lnTo>
                  <a:pt x="0" y="67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7214858" y="3720371"/>
            <a:ext cx="868301" cy="940062"/>
          </a:xfrm>
          <a:custGeom>
            <a:avLst/>
            <a:gdLst/>
            <a:ahLst/>
            <a:cxnLst/>
            <a:rect r="r" b="b" t="t" l="l"/>
            <a:pathLst>
              <a:path h="940062" w="868301">
                <a:moveTo>
                  <a:pt x="0" y="0"/>
                </a:moveTo>
                <a:lnTo>
                  <a:pt x="868302" y="0"/>
                </a:lnTo>
                <a:lnTo>
                  <a:pt x="868302" y="940061"/>
                </a:lnTo>
                <a:lnTo>
                  <a:pt x="0" y="940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0051978" y="3730586"/>
            <a:ext cx="739935" cy="964744"/>
          </a:xfrm>
          <a:custGeom>
            <a:avLst/>
            <a:gdLst/>
            <a:ahLst/>
            <a:cxnLst/>
            <a:rect r="r" b="b" t="t" l="l"/>
            <a:pathLst>
              <a:path h="964744" w="739935">
                <a:moveTo>
                  <a:pt x="0" y="0"/>
                </a:moveTo>
                <a:lnTo>
                  <a:pt x="739935" y="0"/>
                </a:lnTo>
                <a:lnTo>
                  <a:pt x="739935" y="964744"/>
                </a:lnTo>
                <a:lnTo>
                  <a:pt x="0" y="964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5507376" y="3673572"/>
            <a:ext cx="995056" cy="1116147"/>
          </a:xfrm>
          <a:custGeom>
            <a:avLst/>
            <a:gdLst/>
            <a:ahLst/>
            <a:cxnLst/>
            <a:rect r="r" b="b" t="t" l="l"/>
            <a:pathLst>
              <a:path h="1116147" w="995056">
                <a:moveTo>
                  <a:pt x="0" y="0"/>
                </a:moveTo>
                <a:lnTo>
                  <a:pt x="995056" y="0"/>
                </a:lnTo>
                <a:lnTo>
                  <a:pt x="995056" y="1116147"/>
                </a:lnTo>
                <a:lnTo>
                  <a:pt x="0" y="1116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2977579" y="3903973"/>
            <a:ext cx="615758" cy="702412"/>
          </a:xfrm>
          <a:custGeom>
            <a:avLst/>
            <a:gdLst/>
            <a:ahLst/>
            <a:cxnLst/>
            <a:rect r="r" b="b" t="t" l="l"/>
            <a:pathLst>
              <a:path h="702412" w="615758">
                <a:moveTo>
                  <a:pt x="0" y="0"/>
                </a:moveTo>
                <a:lnTo>
                  <a:pt x="615758" y="0"/>
                </a:lnTo>
                <a:lnTo>
                  <a:pt x="615758" y="702413"/>
                </a:lnTo>
                <a:lnTo>
                  <a:pt x="0" y="7024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5068207" y="6022029"/>
            <a:ext cx="1905000" cy="1408961"/>
            <a:chOff x="0" y="0"/>
            <a:chExt cx="2540000" cy="1878615"/>
          </a:xfrm>
        </p:grpSpPr>
        <p:sp>
          <p:nvSpPr>
            <p:cNvPr name="TextBox 74" id="74"/>
            <p:cNvSpPr txBox="true"/>
            <p:nvPr/>
          </p:nvSpPr>
          <p:spPr>
            <a:xfrm rot="0">
              <a:off x="0" y="0"/>
              <a:ext cx="2540000" cy="27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b="true" sz="1389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Testing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0" y="481615"/>
              <a:ext cx="2540000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sz="1389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Validate test scenarios: submit request, approve/reject flow, edge cases, and regression checks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5068207" y="8326340"/>
            <a:ext cx="2095500" cy="4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Step 6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193052" y="6022029"/>
            <a:ext cx="1905000" cy="1408961"/>
            <a:chOff x="0" y="0"/>
            <a:chExt cx="2540000" cy="1878615"/>
          </a:xfrm>
        </p:grpSpPr>
        <p:sp>
          <p:nvSpPr>
            <p:cNvPr name="TextBox 78" id="78"/>
            <p:cNvSpPr txBox="true"/>
            <p:nvPr/>
          </p:nvSpPr>
          <p:spPr>
            <a:xfrm rot="0">
              <a:off x="0" y="0"/>
              <a:ext cx="2540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b="true" sz="1389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Business</a:t>
              </a:r>
            </a:p>
            <a:p>
              <a:pPr algn="ctr" marL="0" indent="0" lvl="0">
                <a:lnSpc>
                  <a:spcPts val="1667"/>
                </a:lnSpc>
              </a:pPr>
              <a:r>
                <a:rPr lang="en-US" b="true" sz="1389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Requirement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0">
              <a:off x="0" y="761015"/>
              <a:ext cx="2540000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sz="1389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Capture stakeholder needs and define the business problem to be solved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193052" y="8326340"/>
            <a:ext cx="2095500" cy="4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Step 1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3968083" y="6022029"/>
            <a:ext cx="1905000" cy="1618511"/>
            <a:chOff x="0" y="0"/>
            <a:chExt cx="2540000" cy="2158015"/>
          </a:xfrm>
        </p:grpSpPr>
        <p:sp>
          <p:nvSpPr>
            <p:cNvPr name="TextBox 82" id="82"/>
            <p:cNvSpPr txBox="true"/>
            <p:nvPr/>
          </p:nvSpPr>
          <p:spPr>
            <a:xfrm rot="0">
              <a:off x="0" y="0"/>
              <a:ext cx="2540000" cy="27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b="true" sz="1389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Epic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0" y="481615"/>
              <a:ext cx="2540000" cy="167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sz="1389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Group related features into an Epic. Example: Leave Management – covering requests, approvals, and tracking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3968083" y="8326340"/>
            <a:ext cx="2095500" cy="4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Step 2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6743114" y="6022029"/>
            <a:ext cx="1905000" cy="1408961"/>
            <a:chOff x="0" y="0"/>
            <a:chExt cx="2540000" cy="1878615"/>
          </a:xfrm>
        </p:grpSpPr>
        <p:sp>
          <p:nvSpPr>
            <p:cNvPr name="TextBox 86" id="86"/>
            <p:cNvSpPr txBox="true"/>
            <p:nvPr/>
          </p:nvSpPr>
          <p:spPr>
            <a:xfrm rot="0">
              <a:off x="0" y="0"/>
              <a:ext cx="2540000" cy="27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b="true" sz="1389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User Story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0" y="481615"/>
              <a:ext cx="2540000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sz="1389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"As an employee, I want to submit a leave request so that my manager can approve or reject my absence."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6743114" y="8326340"/>
            <a:ext cx="2095500" cy="4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Step 3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9518145" y="6022029"/>
            <a:ext cx="1905000" cy="1618511"/>
            <a:chOff x="0" y="0"/>
            <a:chExt cx="2540000" cy="2158015"/>
          </a:xfrm>
        </p:grpSpPr>
        <p:sp>
          <p:nvSpPr>
            <p:cNvPr name="TextBox 90" id="90"/>
            <p:cNvSpPr txBox="true"/>
            <p:nvPr/>
          </p:nvSpPr>
          <p:spPr>
            <a:xfrm rot="0">
              <a:off x="0" y="0"/>
              <a:ext cx="2540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b="true" sz="1389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Task /</a:t>
              </a:r>
            </a:p>
            <a:p>
              <a:pPr algn="ctr" marL="0" indent="0" lvl="0">
                <a:lnSpc>
                  <a:spcPts val="1667"/>
                </a:lnSpc>
              </a:pPr>
              <a:r>
                <a:rPr lang="en-US" b="true" sz="1389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Subtask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0" y="761015"/>
              <a:ext cx="2540000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sz="1389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Break user stories into tasks: UI form design, API integration, notification setup, and database schema</a:t>
              </a: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9518145" y="8326340"/>
            <a:ext cx="2095500" cy="4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Step 4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2293176" y="6022029"/>
            <a:ext cx="1905000" cy="1618511"/>
            <a:chOff x="0" y="0"/>
            <a:chExt cx="2540000" cy="2158015"/>
          </a:xfrm>
        </p:grpSpPr>
        <p:sp>
          <p:nvSpPr>
            <p:cNvPr name="TextBox 94" id="94"/>
            <p:cNvSpPr txBox="true"/>
            <p:nvPr/>
          </p:nvSpPr>
          <p:spPr>
            <a:xfrm rot="0">
              <a:off x="0" y="0"/>
              <a:ext cx="2540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b="true" sz="1389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Acceptance</a:t>
              </a:r>
            </a:p>
            <a:p>
              <a:pPr algn="ctr" marL="0" indent="0" lvl="0">
                <a:lnSpc>
                  <a:spcPts val="1667"/>
                </a:lnSpc>
              </a:pPr>
              <a:r>
                <a:rPr lang="en-US" b="true" sz="1389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Criteria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0" y="761015"/>
              <a:ext cx="2540000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67"/>
                </a:lnSpc>
              </a:pPr>
              <a:r>
                <a:rPr lang="en-US" sz="1389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Define done: employee submits form, manager notified, status updates to Approved or Rejected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12293176" y="8326340"/>
            <a:ext cx="2095500" cy="4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Step 5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028700" y="981075"/>
            <a:ext cx="12253831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DAY 4 – AGILE, USER STORIES &amp; SPRINT WORKING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28700" y="1704037"/>
            <a:ext cx="14441704" cy="32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4"/>
              </a:lnSpc>
              <a:spcBef>
                <a:spcPct val="0"/>
              </a:spcBef>
            </a:pPr>
            <a:r>
              <a:rPr lang="en-US" sz="1910">
                <a:solidFill>
                  <a:srgbClr val="333333"/>
                </a:solidFill>
                <a:latin typeface="Open Sans 2"/>
                <a:ea typeface="Open Sans 2"/>
                <a:cs typeface="Open Sans 2"/>
                <a:sym typeface="Open Sans 2"/>
              </a:rPr>
              <a:t>Business Requirement → Epic → User Story → Task/Subtask → Acceptance Criteria → Testing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2531" y="5007496"/>
            <a:ext cx="4391415" cy="2328954"/>
            <a:chOff x="0" y="0"/>
            <a:chExt cx="1498936" cy="794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1177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31177" y="3214265"/>
            <a:ext cx="1524000" cy="15240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28700" y="9039225"/>
            <a:ext cx="16230600" cy="0"/>
          </a:xfrm>
          <a:prstGeom prst="line">
            <a:avLst/>
          </a:prstGeom>
          <a:ln cap="flat" w="57150">
            <a:solidFill>
              <a:srgbClr val="C1C7D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955052" y="8782050"/>
            <a:ext cx="476250" cy="4762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2777798" y="5007496"/>
            <a:ext cx="4391415" cy="2328954"/>
            <a:chOff x="0" y="0"/>
            <a:chExt cx="1498936" cy="7949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230398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211506" y="3214265"/>
            <a:ext cx="1524000" cy="15240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35381" y="8782050"/>
            <a:ext cx="476250" cy="47625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5400000">
            <a:off x="5558128" y="5007496"/>
            <a:ext cx="4391415" cy="2328954"/>
            <a:chOff x="0" y="0"/>
            <a:chExt cx="1498936" cy="7949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995233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9" y="0"/>
                </a:lnTo>
                <a:lnTo>
                  <a:pt x="1695609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991835" y="3214265"/>
            <a:ext cx="1524000" cy="152400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15710" y="8782050"/>
            <a:ext cx="476250" cy="47625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5400000">
            <a:off x="8338457" y="5007496"/>
            <a:ext cx="4391415" cy="2328954"/>
            <a:chOff x="0" y="0"/>
            <a:chExt cx="1498936" cy="7949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768608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9" y="0"/>
                </a:lnTo>
                <a:lnTo>
                  <a:pt x="1695609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9772165" y="3214265"/>
            <a:ext cx="1524000" cy="152400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96040" y="8782050"/>
            <a:ext cx="476250" cy="476250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5400000">
            <a:off x="11118786" y="5007496"/>
            <a:ext cx="4391415" cy="2328954"/>
            <a:chOff x="0" y="0"/>
            <a:chExt cx="1498936" cy="7949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2552494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2552494" y="3214265"/>
            <a:ext cx="1524000" cy="1524000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076369" y="8782050"/>
            <a:ext cx="476250" cy="476250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5400000">
            <a:off x="13899115" y="5007496"/>
            <a:ext cx="4391415" cy="2328954"/>
            <a:chOff x="0" y="0"/>
            <a:chExt cx="1498936" cy="7949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5332823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5332823" y="3214265"/>
            <a:ext cx="1524000" cy="1524000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856698" y="8782050"/>
            <a:ext cx="476250" cy="476250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4699186" y="3671465"/>
            <a:ext cx="548640" cy="609600"/>
          </a:xfrm>
          <a:custGeom>
            <a:avLst/>
            <a:gdLst/>
            <a:ahLst/>
            <a:cxnLst/>
            <a:rect r="r" b="b" t="t" l="l"/>
            <a:pathLst>
              <a:path h="609600" w="548640">
                <a:moveTo>
                  <a:pt x="0" y="0"/>
                </a:moveTo>
                <a:lnTo>
                  <a:pt x="548640" y="0"/>
                </a:lnTo>
                <a:lnTo>
                  <a:pt x="54864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7479515" y="3671465"/>
            <a:ext cx="548640" cy="609600"/>
          </a:xfrm>
          <a:custGeom>
            <a:avLst/>
            <a:gdLst/>
            <a:ahLst/>
            <a:cxnLst/>
            <a:rect r="r" b="b" t="t" l="l"/>
            <a:pathLst>
              <a:path h="609600" w="548640">
                <a:moveTo>
                  <a:pt x="0" y="0"/>
                </a:moveTo>
                <a:lnTo>
                  <a:pt x="548640" y="0"/>
                </a:lnTo>
                <a:lnTo>
                  <a:pt x="54864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0229365" y="3732425"/>
            <a:ext cx="609600" cy="487680"/>
          </a:xfrm>
          <a:custGeom>
            <a:avLst/>
            <a:gdLst/>
            <a:ahLst/>
            <a:cxnLst/>
            <a:rect r="r" b="b" t="t" l="l"/>
            <a:pathLst>
              <a:path h="487680" w="609600">
                <a:moveTo>
                  <a:pt x="0" y="0"/>
                </a:moveTo>
                <a:lnTo>
                  <a:pt x="609600" y="0"/>
                </a:lnTo>
                <a:lnTo>
                  <a:pt x="609600" y="487680"/>
                </a:lnTo>
                <a:lnTo>
                  <a:pt x="0" y="4876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888377" y="3732425"/>
            <a:ext cx="609600" cy="487680"/>
          </a:xfrm>
          <a:custGeom>
            <a:avLst/>
            <a:gdLst/>
            <a:ahLst/>
            <a:cxnLst/>
            <a:rect r="r" b="b" t="t" l="l"/>
            <a:pathLst>
              <a:path h="487680" w="609600">
                <a:moveTo>
                  <a:pt x="0" y="0"/>
                </a:moveTo>
                <a:lnTo>
                  <a:pt x="609600" y="0"/>
                </a:lnTo>
                <a:lnTo>
                  <a:pt x="609600" y="487680"/>
                </a:lnTo>
                <a:lnTo>
                  <a:pt x="0" y="487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3009694" y="3699174"/>
            <a:ext cx="609600" cy="554182"/>
          </a:xfrm>
          <a:custGeom>
            <a:avLst/>
            <a:gdLst/>
            <a:ahLst/>
            <a:cxnLst/>
            <a:rect r="r" b="b" t="t" l="l"/>
            <a:pathLst>
              <a:path h="554182" w="609600">
                <a:moveTo>
                  <a:pt x="0" y="0"/>
                </a:moveTo>
                <a:lnTo>
                  <a:pt x="609600" y="0"/>
                </a:lnTo>
                <a:lnTo>
                  <a:pt x="609600" y="554182"/>
                </a:lnTo>
                <a:lnTo>
                  <a:pt x="0" y="5541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5738899" y="3671465"/>
            <a:ext cx="711847" cy="609600"/>
          </a:xfrm>
          <a:custGeom>
            <a:avLst/>
            <a:gdLst/>
            <a:ahLst/>
            <a:cxnLst/>
            <a:rect r="r" b="b" t="t" l="l"/>
            <a:pathLst>
              <a:path h="609600" w="711847">
                <a:moveTo>
                  <a:pt x="0" y="0"/>
                </a:moveTo>
                <a:lnTo>
                  <a:pt x="711848" y="0"/>
                </a:lnTo>
                <a:lnTo>
                  <a:pt x="711848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028700" y="981075"/>
            <a:ext cx="12253831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DAY 4 – AGILE, USER STORIES &amp; SPRINT WORKING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28700" y="1713562"/>
            <a:ext cx="12253831" cy="30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1"/>
              </a:lnSpc>
              <a:spcBef>
                <a:spcPct val="0"/>
              </a:spcBef>
            </a:pPr>
            <a:r>
              <a:rPr lang="en-US" sz="1829">
                <a:solidFill>
                  <a:srgbClr val="333333"/>
                </a:solidFill>
                <a:latin typeface="Open Sans 2"/>
                <a:ea typeface="Open Sans 2"/>
                <a:cs typeface="Open Sans 2"/>
                <a:sym typeface="Open Sans 2"/>
              </a:rPr>
              <a:t>Key Agile concepts that drive iterative delivery and continuous improvement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240677" y="5099109"/>
            <a:ext cx="1905000" cy="1151786"/>
            <a:chOff x="0" y="0"/>
            <a:chExt cx="2540000" cy="1535715"/>
          </a:xfrm>
        </p:grpSpPr>
        <p:sp>
          <p:nvSpPr>
            <p:cNvPr name="TextBox 72" id="72"/>
            <p:cNvSpPr txBox="true"/>
            <p:nvPr/>
          </p:nvSpPr>
          <p:spPr>
            <a:xfrm rot="0">
              <a:off x="0" y="0"/>
              <a:ext cx="2540000" cy="266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b="true" sz="1330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Product Backlog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0" y="468915"/>
              <a:ext cx="25400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sz="1330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A prioritized list of all features, user stories, and tasks to be delivered in the project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531464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4021006" y="5099109"/>
            <a:ext cx="1905000" cy="1351811"/>
            <a:chOff x="0" y="0"/>
            <a:chExt cx="2540000" cy="1802415"/>
          </a:xfrm>
        </p:grpSpPr>
        <p:sp>
          <p:nvSpPr>
            <p:cNvPr name="TextBox 76" id="76"/>
            <p:cNvSpPr txBox="true"/>
            <p:nvPr/>
          </p:nvSpPr>
          <p:spPr>
            <a:xfrm rot="0">
              <a:off x="0" y="0"/>
              <a:ext cx="2540000" cy="266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b="true" sz="1330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Sprint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0" y="468915"/>
              <a:ext cx="2540000" cy="133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sz="1330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A fixed time-box (1–4 weeks) in which the team delivers a potentially shippable product increment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4311793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6801335" y="5099109"/>
            <a:ext cx="1905000" cy="1351811"/>
            <a:chOff x="0" y="0"/>
            <a:chExt cx="2540000" cy="1802415"/>
          </a:xfrm>
        </p:grpSpPr>
        <p:sp>
          <p:nvSpPr>
            <p:cNvPr name="TextBox 80" id="80"/>
            <p:cNvSpPr txBox="true"/>
            <p:nvPr/>
          </p:nvSpPr>
          <p:spPr>
            <a:xfrm rot="0">
              <a:off x="0" y="0"/>
              <a:ext cx="2540000" cy="266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b="true" sz="1330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Story Points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0" y="468915"/>
              <a:ext cx="2540000" cy="133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sz="1330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Relative units used to estimate effort, complexity, and size of user stories in the backlog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7092123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9581665" y="5099109"/>
            <a:ext cx="1905000" cy="1151786"/>
            <a:chOff x="0" y="0"/>
            <a:chExt cx="2540000" cy="1535715"/>
          </a:xfrm>
        </p:grpSpPr>
        <p:sp>
          <p:nvSpPr>
            <p:cNvPr name="TextBox 84" id="84"/>
            <p:cNvSpPr txBox="true"/>
            <p:nvPr/>
          </p:nvSpPr>
          <p:spPr>
            <a:xfrm rot="0">
              <a:off x="0" y="0"/>
              <a:ext cx="2540000" cy="266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b="true" sz="1330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Definition of Done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0">
              <a:off x="0" y="468915"/>
              <a:ext cx="25400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sz="1330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A shared checklist of criteria that a user story must meet before it is considered complete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9872452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2361994" y="5099109"/>
            <a:ext cx="1905000" cy="1351811"/>
            <a:chOff x="0" y="0"/>
            <a:chExt cx="2540000" cy="1802415"/>
          </a:xfrm>
        </p:grpSpPr>
        <p:sp>
          <p:nvSpPr>
            <p:cNvPr name="TextBox 88" id="88"/>
            <p:cNvSpPr txBox="true"/>
            <p:nvPr/>
          </p:nvSpPr>
          <p:spPr>
            <a:xfrm rot="0">
              <a:off x="0" y="0"/>
              <a:ext cx="2540000" cy="266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b="true" sz="1330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Sprint Planning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0" y="468915"/>
              <a:ext cx="2540000" cy="133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sz="1330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Team selects backlog items and defines Sprint goals and tasks for the upcoming Sprint cycle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2652781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5142323" y="5099109"/>
            <a:ext cx="1905000" cy="1751861"/>
            <a:chOff x="0" y="0"/>
            <a:chExt cx="2540000" cy="2335815"/>
          </a:xfrm>
        </p:grpSpPr>
        <p:sp>
          <p:nvSpPr>
            <p:cNvPr name="TextBox 92" id="92"/>
            <p:cNvSpPr txBox="true"/>
            <p:nvPr/>
          </p:nvSpPr>
          <p:spPr>
            <a:xfrm rot="0">
              <a:off x="0" y="0"/>
              <a:ext cx="2540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b="true" sz="1330">
                  <a:solidFill>
                    <a:srgbClr val="333333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Stand-up, Review &amp; Retro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0" y="735615"/>
              <a:ext cx="2540000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97"/>
                </a:lnSpc>
              </a:pPr>
              <a:r>
                <a:rPr lang="en-US" sz="1330">
                  <a:solidFill>
                    <a:srgbClr val="333333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Daily sync, end-of-Sprint demo to stakeholders, and team retrospective for continuous improvement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5433110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5526" y="-157398"/>
            <a:ext cx="10187373" cy="9958157"/>
          </a:xfrm>
          <a:custGeom>
            <a:avLst/>
            <a:gdLst/>
            <a:ahLst/>
            <a:cxnLst/>
            <a:rect r="r" b="b" t="t" l="l"/>
            <a:pathLst>
              <a:path h="9958157" w="10187373">
                <a:moveTo>
                  <a:pt x="0" y="0"/>
                </a:moveTo>
                <a:lnTo>
                  <a:pt x="10187373" y="0"/>
                </a:lnTo>
                <a:lnTo>
                  <a:pt x="10187373" y="9958157"/>
                </a:lnTo>
                <a:lnTo>
                  <a:pt x="0" y="9958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22212" y="1028700"/>
            <a:ext cx="419100" cy="419100"/>
            <a:chOff x="0" y="0"/>
            <a:chExt cx="110380" cy="1103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00003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10380" cy="13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8"/>
                </a:lnSpc>
                <a:spcBef>
                  <a:spcPct val="0"/>
                </a:spcBef>
              </a:pPr>
              <a:r>
                <a:rPr lang="en-US" b="true" sz="1598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04710" y="4079921"/>
            <a:ext cx="419100" cy="419100"/>
            <a:chOff x="0" y="0"/>
            <a:chExt cx="110380" cy="1103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0042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0380" cy="13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8"/>
                </a:lnSpc>
                <a:spcBef>
                  <a:spcPct val="0"/>
                </a:spcBef>
              </a:pPr>
              <a:r>
                <a:rPr lang="en-US" b="true" sz="1598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079921"/>
            <a:ext cx="419100" cy="419100"/>
            <a:chOff x="0" y="0"/>
            <a:chExt cx="110380" cy="1103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0380" cy="13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8"/>
                </a:lnSpc>
                <a:spcBef>
                  <a:spcPct val="0"/>
                </a:spcBef>
              </a:pPr>
              <a:r>
                <a:rPr lang="en-US" b="true" sz="1598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7650702"/>
            <a:ext cx="419100" cy="419100"/>
            <a:chOff x="0" y="0"/>
            <a:chExt cx="110380" cy="1103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00C26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0380" cy="13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8"/>
                </a:lnSpc>
                <a:spcBef>
                  <a:spcPct val="0"/>
                </a:spcBef>
              </a:pPr>
              <a:r>
                <a:rPr lang="en-US" b="true" sz="1598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183985" y="7650702"/>
            <a:ext cx="419100" cy="419100"/>
            <a:chOff x="0" y="0"/>
            <a:chExt cx="110380" cy="1103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0380" cy="13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8"/>
                </a:lnSpc>
                <a:spcBef>
                  <a:spcPct val="0"/>
                </a:spcBef>
              </a:pPr>
              <a:r>
                <a:rPr lang="en-US" b="true" sz="1598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5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205329" y="4156734"/>
            <a:ext cx="896384" cy="958781"/>
          </a:xfrm>
          <a:custGeom>
            <a:avLst/>
            <a:gdLst/>
            <a:ahLst/>
            <a:cxnLst/>
            <a:rect r="r" b="b" t="t" l="l"/>
            <a:pathLst>
              <a:path h="958781" w="896384">
                <a:moveTo>
                  <a:pt x="0" y="0"/>
                </a:moveTo>
                <a:lnTo>
                  <a:pt x="896384" y="0"/>
                </a:lnTo>
                <a:lnTo>
                  <a:pt x="896384" y="958782"/>
                </a:lnTo>
                <a:lnTo>
                  <a:pt x="0" y="958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136546" y="4305593"/>
            <a:ext cx="1051968" cy="857159"/>
          </a:xfrm>
          <a:custGeom>
            <a:avLst/>
            <a:gdLst/>
            <a:ahLst/>
            <a:cxnLst/>
            <a:rect r="r" b="b" t="t" l="l"/>
            <a:pathLst>
              <a:path h="857159" w="1051968">
                <a:moveTo>
                  <a:pt x="0" y="0"/>
                </a:moveTo>
                <a:lnTo>
                  <a:pt x="1051968" y="0"/>
                </a:lnTo>
                <a:lnTo>
                  <a:pt x="1051968" y="857160"/>
                </a:lnTo>
                <a:lnTo>
                  <a:pt x="0" y="857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261019" y="7300960"/>
            <a:ext cx="771098" cy="882314"/>
          </a:xfrm>
          <a:custGeom>
            <a:avLst/>
            <a:gdLst/>
            <a:ahLst/>
            <a:cxnLst/>
            <a:rect r="r" b="b" t="t" l="l"/>
            <a:pathLst>
              <a:path h="882314" w="771098">
                <a:moveTo>
                  <a:pt x="0" y="0"/>
                </a:moveTo>
                <a:lnTo>
                  <a:pt x="771098" y="0"/>
                </a:lnTo>
                <a:lnTo>
                  <a:pt x="771098" y="882314"/>
                </a:lnTo>
                <a:lnTo>
                  <a:pt x="0" y="882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350130" y="7186734"/>
            <a:ext cx="836684" cy="996613"/>
          </a:xfrm>
          <a:custGeom>
            <a:avLst/>
            <a:gdLst/>
            <a:ahLst/>
            <a:cxnLst/>
            <a:rect r="r" b="b" t="t" l="l"/>
            <a:pathLst>
              <a:path h="996613" w="836684">
                <a:moveTo>
                  <a:pt x="0" y="0"/>
                </a:moveTo>
                <a:lnTo>
                  <a:pt x="836683" y="0"/>
                </a:lnTo>
                <a:lnTo>
                  <a:pt x="836683" y="996613"/>
                </a:lnTo>
                <a:lnTo>
                  <a:pt x="0" y="9966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693487" y="2037570"/>
            <a:ext cx="774667" cy="858684"/>
          </a:xfrm>
          <a:custGeom>
            <a:avLst/>
            <a:gdLst/>
            <a:ahLst/>
            <a:cxnLst/>
            <a:rect r="r" b="b" t="t" l="l"/>
            <a:pathLst>
              <a:path h="858684" w="774667">
                <a:moveTo>
                  <a:pt x="0" y="0"/>
                </a:moveTo>
                <a:lnTo>
                  <a:pt x="774667" y="0"/>
                </a:lnTo>
                <a:lnTo>
                  <a:pt x="774667" y="858684"/>
                </a:lnTo>
                <a:lnTo>
                  <a:pt x="0" y="8586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914400"/>
            <a:ext cx="5914807" cy="39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4"/>
              </a:lnSpc>
            </a:pPr>
            <a:r>
              <a:rPr lang="en-US" b="true" sz="241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Leave Management – Practical Example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1696893"/>
            <a:ext cx="4460735" cy="66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sz="189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Connecting architecture, APIs, database design, and business rules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63024" y="1451814"/>
            <a:ext cx="2813778" cy="73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43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POST /leave-requests sent to backend; request payload includes employee ID, dates, and leave type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63024" y="1011777"/>
            <a:ext cx="2813778" cy="3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Frontend Layer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45522" y="4503035"/>
            <a:ext cx="2813778" cy="73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43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Business rules enforced: validate leave balance, check overlapping requests, verify eligibility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69512" y="4503035"/>
            <a:ext cx="2813778" cy="73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43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Employee initiates leave request through the HR portal or mobile application interface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45522" y="4062998"/>
            <a:ext cx="2813778" cy="3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Backend Validation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9512" y="4062998"/>
            <a:ext cx="2813778" cy="3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Employee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9512" y="8073816"/>
            <a:ext cx="2813778" cy="73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43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Form submission captures leave type, start date, end date, and reason for absence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69512" y="7633779"/>
            <a:ext cx="2813778" cy="3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Apply Leave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24797" y="8073816"/>
            <a:ext cx="2813778" cy="73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43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Leave request persisted with status set to Pending, awaiting manager review and approval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24797" y="7633779"/>
            <a:ext cx="2813778" cy="3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Database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4F4E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2875" y="0"/>
            <a:ext cx="0" cy="10287000"/>
          </a:xfrm>
          <a:prstGeom prst="line">
            <a:avLst/>
          </a:prstGeom>
          <a:ln cap="flat" w="285750">
            <a:solidFill>
              <a:srgbClr val="3CB9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933454" y="1147863"/>
            <a:ext cx="539302" cy="621837"/>
          </a:xfrm>
          <a:custGeom>
            <a:avLst/>
            <a:gdLst/>
            <a:ahLst/>
            <a:cxnLst/>
            <a:rect r="r" b="b" t="t" l="l"/>
            <a:pathLst>
              <a:path h="621837" w="539302">
                <a:moveTo>
                  <a:pt x="0" y="0"/>
                </a:moveTo>
                <a:lnTo>
                  <a:pt x="539302" y="0"/>
                </a:lnTo>
                <a:lnTo>
                  <a:pt x="539302" y="621837"/>
                </a:lnTo>
                <a:lnTo>
                  <a:pt x="0" y="62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01182" y="2853518"/>
            <a:ext cx="6234929" cy="223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17"/>
              </a:lnSpc>
            </a:pPr>
            <a:r>
              <a:rPr lang="en-US" b="true" sz="6352" spc="-254">
                <a:gradFill>
                  <a:gsLst>
                    <a:gs pos="0">
                      <a:srgbClr val="3DB981">
                        <a:alpha val="100000"/>
                      </a:srgbClr>
                    </a:gs>
                    <a:gs pos="50000">
                      <a:srgbClr val="2F9488">
                        <a:alpha val="100000"/>
                      </a:srgbClr>
                    </a:gs>
                    <a:gs pos="100000">
                      <a:srgbClr val="2F948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Why Documentation Matters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1182" y="5411298"/>
            <a:ext cx="6234929" cy="119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7"/>
              </a:lnSpc>
            </a:pPr>
            <a:r>
              <a:rPr lang="en-US" b="true" sz="1798" spc="359">
                <a:solidFill>
                  <a:srgbClr val="7C7D7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GOOD DOCUMENTATION MAKES DEVELOPMENT CLEAR, CONSISTENT AND MAINTAINABLE.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24650" y="1696490"/>
            <a:ext cx="4708221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 spc="-12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Day 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4F4E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2875"/>
            <a:ext cx="18288000" cy="0"/>
          </a:xfrm>
          <a:prstGeom prst="line">
            <a:avLst/>
          </a:prstGeom>
          <a:ln cap="flat" w="285750">
            <a:solidFill>
              <a:srgbClr val="3CB9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043132" y="957363"/>
            <a:ext cx="539302" cy="621837"/>
          </a:xfrm>
          <a:custGeom>
            <a:avLst/>
            <a:gdLst/>
            <a:ahLst/>
            <a:cxnLst/>
            <a:rect r="r" b="b" t="t" l="l"/>
            <a:pathLst>
              <a:path h="621837" w="539302">
                <a:moveTo>
                  <a:pt x="0" y="0"/>
                </a:moveTo>
                <a:lnTo>
                  <a:pt x="539303" y="0"/>
                </a:lnTo>
                <a:lnTo>
                  <a:pt x="539303" y="621837"/>
                </a:lnTo>
                <a:lnTo>
                  <a:pt x="0" y="62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68362" y="3433024"/>
            <a:ext cx="480011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README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95891" y="9119263"/>
            <a:ext cx="78654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7C7D7B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5565" y="891092"/>
            <a:ext cx="6234929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</a:pPr>
            <a:r>
              <a:rPr lang="en-US" b="true" sz="1800" spc="359">
                <a:solidFill>
                  <a:srgbClr val="7C7D7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DOCUMENTATION MATTERS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04106" y="3434957"/>
            <a:ext cx="53228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gradFill>
                  <a:gsLst>
                    <a:gs pos="0">
                      <a:srgbClr val="3DB981">
                        <a:alpha val="100000"/>
                      </a:srgbClr>
                    </a:gs>
                    <a:gs pos="50000">
                      <a:srgbClr val="2F9488">
                        <a:alpha val="100000"/>
                      </a:srgbClr>
                    </a:gs>
                    <a:gs pos="100000">
                      <a:srgbClr val="2F948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68362" y="4387498"/>
            <a:ext cx="480011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Functional Requirements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04106" y="4389431"/>
            <a:ext cx="53228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gradFill>
                  <a:gsLst>
                    <a:gs pos="0">
                      <a:srgbClr val="3DB981">
                        <a:alpha val="100000"/>
                      </a:srgbClr>
                    </a:gs>
                    <a:gs pos="50000">
                      <a:srgbClr val="2F9488">
                        <a:alpha val="100000"/>
                      </a:srgbClr>
                    </a:gs>
                    <a:gs pos="100000">
                      <a:srgbClr val="2F948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68362" y="5341972"/>
            <a:ext cx="480011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Technical Documentation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04106" y="5343905"/>
            <a:ext cx="53228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gradFill>
                  <a:gsLst>
                    <a:gs pos="0">
                      <a:srgbClr val="3DB981">
                        <a:alpha val="100000"/>
                      </a:srgbClr>
                    </a:gs>
                    <a:gs pos="50000">
                      <a:srgbClr val="2F9488">
                        <a:alpha val="100000"/>
                      </a:srgbClr>
                    </a:gs>
                    <a:gs pos="100000">
                      <a:srgbClr val="2F948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68362" y="6296446"/>
            <a:ext cx="480011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API Documentation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04106" y="6298379"/>
            <a:ext cx="53228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gradFill>
                  <a:gsLst>
                    <a:gs pos="0">
                      <a:srgbClr val="3DB981">
                        <a:alpha val="100000"/>
                      </a:srgbClr>
                    </a:gs>
                    <a:gs pos="50000">
                      <a:srgbClr val="2F9488">
                        <a:alpha val="100000"/>
                      </a:srgbClr>
                    </a:gs>
                    <a:gs pos="100000">
                      <a:srgbClr val="2F948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3776" y="3431091"/>
            <a:ext cx="480011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Database Documentation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19520" y="3433024"/>
            <a:ext cx="53228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gradFill>
                  <a:gsLst>
                    <a:gs pos="0">
                      <a:srgbClr val="3DB981">
                        <a:alpha val="100000"/>
                      </a:srgbClr>
                    </a:gs>
                    <a:gs pos="50000">
                      <a:srgbClr val="2F9488">
                        <a:alpha val="100000"/>
                      </a:srgbClr>
                    </a:gs>
                    <a:gs pos="100000">
                      <a:srgbClr val="2F948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3776" y="4385565"/>
            <a:ext cx="480011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19520" y="4387498"/>
            <a:ext cx="53228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gradFill>
                  <a:gsLst>
                    <a:gs pos="0">
                      <a:srgbClr val="3DB981">
                        <a:alpha val="100000"/>
                      </a:srgbClr>
                    </a:gs>
                    <a:gs pos="50000">
                      <a:srgbClr val="2F9488">
                        <a:alpha val="100000"/>
                      </a:srgbClr>
                    </a:gs>
                    <a:gs pos="100000">
                      <a:srgbClr val="2F948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3776" y="5340039"/>
            <a:ext cx="480011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Engineering Standards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19520" y="5341972"/>
            <a:ext cx="53228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11">
                <a:gradFill>
                  <a:gsLst>
                    <a:gs pos="0">
                      <a:srgbClr val="3DB981">
                        <a:alpha val="100000"/>
                      </a:srgbClr>
                    </a:gs>
                    <a:gs pos="50000">
                      <a:srgbClr val="2F9488">
                        <a:alpha val="100000"/>
                      </a:srgbClr>
                    </a:gs>
                    <a:gs pos="100000">
                      <a:srgbClr val="2F948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F4F4E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2875"/>
            <a:ext cx="18288000" cy="0"/>
          </a:xfrm>
          <a:prstGeom prst="line">
            <a:avLst/>
          </a:prstGeom>
          <a:ln cap="flat" w="285750">
            <a:solidFill>
              <a:srgbClr val="3CB9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043132" y="957363"/>
            <a:ext cx="539302" cy="621837"/>
          </a:xfrm>
          <a:custGeom>
            <a:avLst/>
            <a:gdLst/>
            <a:ahLst/>
            <a:cxnLst/>
            <a:rect r="r" b="b" t="t" l="l"/>
            <a:pathLst>
              <a:path h="621837" w="539302">
                <a:moveTo>
                  <a:pt x="0" y="0"/>
                </a:moveTo>
                <a:lnTo>
                  <a:pt x="539303" y="0"/>
                </a:lnTo>
                <a:lnTo>
                  <a:pt x="539303" y="621837"/>
                </a:lnTo>
                <a:lnTo>
                  <a:pt x="0" y="62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5565" y="2038840"/>
            <a:ext cx="10192122" cy="225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69"/>
              </a:lnSpc>
            </a:pPr>
            <a:r>
              <a:rPr lang="en-US" b="true" sz="4335" spc="-86">
                <a:gradFill>
                  <a:gsLst>
                    <a:gs pos="0">
                      <a:srgbClr val="3DB981">
                        <a:alpha val="100000"/>
                      </a:srgbClr>
                    </a:gs>
                    <a:gs pos="50000">
                      <a:srgbClr val="2F9488">
                        <a:alpha val="100000"/>
                      </a:srgbClr>
                    </a:gs>
                    <a:gs pos="100000">
                      <a:srgbClr val="2F948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Good Documentation Makes Development Clear, Consistent and Maintainable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05565" y="4821079"/>
            <a:ext cx="5359070" cy="3724609"/>
            <a:chOff x="0" y="0"/>
            <a:chExt cx="7145427" cy="496614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41495"/>
              <a:ext cx="7145427" cy="4924650"/>
              <a:chOff x="0" y="0"/>
              <a:chExt cx="1411442" cy="97277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11442" cy="972770"/>
              </a:xfrm>
              <a:custGeom>
                <a:avLst/>
                <a:gdLst/>
                <a:ahLst/>
                <a:cxnLst/>
                <a:rect r="r" b="b" t="t" l="l"/>
                <a:pathLst>
                  <a:path h="972770" w="1411442">
                    <a:moveTo>
                      <a:pt x="0" y="0"/>
                    </a:moveTo>
                    <a:lnTo>
                      <a:pt x="1411442" y="0"/>
                    </a:lnTo>
                    <a:lnTo>
                      <a:pt x="1411442" y="972770"/>
                    </a:lnTo>
                    <a:lnTo>
                      <a:pt x="0" y="97277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1FDF4">
                      <a:alpha val="100000"/>
                    </a:srgbClr>
                  </a:gs>
                  <a:gs pos="100000">
                    <a:srgbClr val="F5F5F0">
                      <a:alpha val="100000"/>
                    </a:srgbClr>
                  </a:gs>
                </a:gsLst>
                <a:lin ang="5400000"/>
              </a:gradFill>
              <a:ln w="19050" cap="sq">
                <a:solidFill>
                  <a:srgbClr val="D1E4E2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411442" cy="10203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sp>
          <p:nvSpPr>
            <p:cNvPr name="AutoShape 9" id="9"/>
            <p:cNvSpPr/>
            <p:nvPr/>
          </p:nvSpPr>
          <p:spPr>
            <a:xfrm>
              <a:off x="0" y="95250"/>
              <a:ext cx="7145427" cy="0"/>
            </a:xfrm>
            <a:prstGeom prst="line">
              <a:avLst/>
            </a:prstGeom>
            <a:ln cap="flat" w="190500">
              <a:gradFill>
                <a:gsLst>
                  <a:gs pos="0">
                    <a:srgbClr val="3DB981">
                      <a:alpha val="100000"/>
                    </a:srgbClr>
                  </a:gs>
                  <a:gs pos="50000">
                    <a:srgbClr val="2F9488">
                      <a:alpha val="100000"/>
                    </a:srgbClr>
                  </a:gs>
                  <a:gs pos="100000">
                    <a:srgbClr val="2F9488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85042" y="5382044"/>
            <a:ext cx="4800118" cy="49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 spc="-11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Clear Development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5042" y="6323590"/>
            <a:ext cx="4800118" cy="14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1"/>
              </a:lnSpc>
            </a:pPr>
            <a:r>
              <a:rPr lang="en-US" sz="1695" spc="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Well-written documentation removes ambiguity, helping every team member understand the system's purpose, structure, and expected behavior at a glance.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95891" y="9128788"/>
            <a:ext cx="786544" cy="28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73"/>
              </a:lnSpc>
              <a:spcBef>
                <a:spcPct val="0"/>
              </a:spcBef>
            </a:pPr>
            <a:r>
              <a:rPr lang="en-US" sz="1695" spc="-67">
                <a:solidFill>
                  <a:srgbClr val="7C7D7B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5565" y="891092"/>
            <a:ext cx="6234929" cy="377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7"/>
              </a:lnSpc>
            </a:pPr>
            <a:r>
              <a:rPr lang="en-US" b="true" sz="1798" spc="359">
                <a:solidFill>
                  <a:srgbClr val="7C7D7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IT MATTERS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64465" y="4822045"/>
            <a:ext cx="5359070" cy="3724609"/>
            <a:chOff x="0" y="0"/>
            <a:chExt cx="7145427" cy="496614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41495"/>
              <a:ext cx="7145427" cy="4924650"/>
              <a:chOff x="0" y="0"/>
              <a:chExt cx="1411442" cy="97277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11442" cy="972770"/>
              </a:xfrm>
              <a:custGeom>
                <a:avLst/>
                <a:gdLst/>
                <a:ahLst/>
                <a:cxnLst/>
                <a:rect r="r" b="b" t="t" l="l"/>
                <a:pathLst>
                  <a:path h="972770" w="1411442">
                    <a:moveTo>
                      <a:pt x="0" y="0"/>
                    </a:moveTo>
                    <a:lnTo>
                      <a:pt x="1411442" y="0"/>
                    </a:lnTo>
                    <a:lnTo>
                      <a:pt x="1411442" y="972770"/>
                    </a:lnTo>
                    <a:lnTo>
                      <a:pt x="0" y="97277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1FDF4">
                      <a:alpha val="100000"/>
                    </a:srgbClr>
                  </a:gs>
                  <a:gs pos="100000">
                    <a:srgbClr val="F5F5F0">
                      <a:alpha val="100000"/>
                    </a:srgbClr>
                  </a:gs>
                </a:gsLst>
                <a:lin ang="5400000"/>
              </a:gradFill>
              <a:ln w="19050" cap="sq">
                <a:solidFill>
                  <a:srgbClr val="D1E4E2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411442" cy="10203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sp>
          <p:nvSpPr>
            <p:cNvPr name="AutoShape 18" id="18"/>
            <p:cNvSpPr/>
            <p:nvPr/>
          </p:nvSpPr>
          <p:spPr>
            <a:xfrm>
              <a:off x="0" y="95250"/>
              <a:ext cx="7145427" cy="0"/>
            </a:xfrm>
            <a:prstGeom prst="line">
              <a:avLst/>
            </a:prstGeom>
            <a:ln cap="flat" w="190500">
              <a:gradFill>
                <a:gsLst>
                  <a:gs pos="0">
                    <a:srgbClr val="3DB981">
                      <a:alpha val="100000"/>
                    </a:srgbClr>
                  </a:gs>
                  <a:gs pos="50000">
                    <a:srgbClr val="2F9488">
                      <a:alpha val="100000"/>
                    </a:srgbClr>
                  </a:gs>
                  <a:gs pos="100000">
                    <a:srgbClr val="2F9488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743941" y="5383011"/>
            <a:ext cx="4800118" cy="49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 spc="-11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Consistent Practices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3941" y="6324557"/>
            <a:ext cx="4800118" cy="14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1"/>
              </a:lnSpc>
            </a:pPr>
            <a:r>
              <a:rPr lang="en-US" sz="1695" spc="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Shared standards across READMEs, engineering guidelines, and changelogs ensure teams work in alignment, reducing errors and onboarding friction.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223364" y="4823012"/>
            <a:ext cx="5359070" cy="3724609"/>
            <a:chOff x="0" y="0"/>
            <a:chExt cx="7145427" cy="496614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41495"/>
              <a:ext cx="7145427" cy="4924650"/>
              <a:chOff x="0" y="0"/>
              <a:chExt cx="1411442" cy="97277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411442" cy="972770"/>
              </a:xfrm>
              <a:custGeom>
                <a:avLst/>
                <a:gdLst/>
                <a:ahLst/>
                <a:cxnLst/>
                <a:rect r="r" b="b" t="t" l="l"/>
                <a:pathLst>
                  <a:path h="972770" w="1411442">
                    <a:moveTo>
                      <a:pt x="0" y="0"/>
                    </a:moveTo>
                    <a:lnTo>
                      <a:pt x="1411442" y="0"/>
                    </a:lnTo>
                    <a:lnTo>
                      <a:pt x="1411442" y="972770"/>
                    </a:lnTo>
                    <a:lnTo>
                      <a:pt x="0" y="97277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1FDF4">
                      <a:alpha val="100000"/>
                    </a:srgbClr>
                  </a:gs>
                  <a:gs pos="100000">
                    <a:srgbClr val="F5F5F0">
                      <a:alpha val="100000"/>
                    </a:srgbClr>
                  </a:gs>
                </a:gsLst>
                <a:lin ang="5400000"/>
              </a:gradFill>
              <a:ln w="19050" cap="sq">
                <a:solidFill>
                  <a:srgbClr val="D1E4E2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1411442" cy="10203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0" y="95250"/>
              <a:ext cx="7145427" cy="0"/>
            </a:xfrm>
            <a:prstGeom prst="line">
              <a:avLst/>
            </a:prstGeom>
            <a:ln cap="flat" w="190500">
              <a:gradFill>
                <a:gsLst>
                  <a:gs pos="0">
                    <a:srgbClr val="3DB981">
                      <a:alpha val="100000"/>
                    </a:srgbClr>
                  </a:gs>
                  <a:gs pos="50000">
                    <a:srgbClr val="2F9488">
                      <a:alpha val="100000"/>
                    </a:srgbClr>
                  </a:gs>
                  <a:gs pos="100000">
                    <a:srgbClr val="2F9488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502841" y="5383978"/>
            <a:ext cx="4800118" cy="49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 spc="-11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Maintainable Codebase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02841" y="6325523"/>
            <a:ext cx="4800118" cy="14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1"/>
              </a:lnSpc>
            </a:pPr>
            <a:r>
              <a:rPr lang="en-US" sz="1695" spc="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Comprehensive technical and architectural documentation enables teams to evolve the system confidently, without fear of breaking undocumented dependencies.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749925"/>
            <a:ext cx="6886575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Linux &amp; Command Line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Linux was completely new to me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Basic commands and terminal operations were initially unfamiliar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Understanding permissions, processes, SSH and environment variables took time and also exploring about local hosts and understanding system design.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66775"/>
            <a:ext cx="9136327" cy="268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1F3D24"/>
                </a:solidFill>
                <a:latin typeface="Poppins"/>
                <a:ea typeface="Poppins"/>
                <a:cs typeface="Poppins"/>
                <a:sym typeface="Poppins"/>
              </a:rPr>
              <a:t>What I Found Difficult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016530"/>
            <a:ext cx="1623060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500070"/>
            <a:ext cx="1623060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026824" y="0"/>
            <a:ext cx="8261176" cy="4556007"/>
            <a:chOff x="0" y="0"/>
            <a:chExt cx="2920254" cy="16105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0254" cy="1610509"/>
            </a:xfrm>
            <a:custGeom>
              <a:avLst/>
              <a:gdLst/>
              <a:ahLst/>
              <a:cxnLst/>
              <a:rect r="r" b="b" t="t" l="l"/>
              <a:pathLst>
                <a:path h="1610509" w="2920254">
                  <a:moveTo>
                    <a:pt x="0" y="0"/>
                  </a:moveTo>
                  <a:lnTo>
                    <a:pt x="2920254" y="0"/>
                  </a:lnTo>
                  <a:lnTo>
                    <a:pt x="2920254" y="1610509"/>
                  </a:lnTo>
                  <a:lnTo>
                    <a:pt x="0" y="1610509"/>
                  </a:lnTo>
                  <a:close/>
                </a:path>
              </a:pathLst>
            </a:custGeom>
            <a:blipFill>
              <a:blip r:embed="rId2"/>
              <a:stretch>
                <a:fillRect l="-22" t="0" r="-2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9067800"/>
            <a:ext cx="255440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Skills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76358" y="9067800"/>
            <a:ext cx="233528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Improvement Areas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879482"/>
            <a:ext cx="8260784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b="true" sz="800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I Need to Improve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214619"/>
            <a:ext cx="4252191" cy="14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Practice more commands, file permissions, process management, and system troubleshooting to build confidence at the command line.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584707"/>
            <a:ext cx="425219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b="true" sz="300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Linux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76804" y="6214619"/>
            <a:ext cx="4252191" cy="14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Deepen understanding of software architecture patterns and how system components interact, scale, and communicate with each other.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76804" y="5584707"/>
            <a:ext cx="425219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b="true" sz="300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System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24907" y="6214619"/>
            <a:ext cx="4252191" cy="14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Gain more experience writing clear, concise, and technically detailed documentation that is easy for developers to understand and follow.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24907" y="5584707"/>
            <a:ext cx="425219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b="true" sz="300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Documentation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213197"/>
            <a:ext cx="9106928" cy="211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14"/>
              </a:lnSpc>
            </a:pPr>
            <a:r>
              <a:rPr lang="en-US" sz="5949">
                <a:solidFill>
                  <a:srgbClr val="272C37"/>
                </a:solidFill>
                <a:latin typeface="Canva Sans"/>
                <a:ea typeface="Canva Sans"/>
                <a:cs typeface="Canva Sans"/>
                <a:sym typeface="Canva Sans"/>
              </a:rPr>
              <a:t>MY KEY</a:t>
            </a:r>
          </a:p>
          <a:p>
            <a:pPr algn="l" marL="0" indent="0" lvl="0">
              <a:lnSpc>
                <a:spcPts val="5414"/>
              </a:lnSpc>
            </a:pPr>
            <a:r>
              <a:rPr lang="en-US" sz="5949">
                <a:solidFill>
                  <a:srgbClr val="272C37"/>
                </a:solidFill>
                <a:latin typeface="Canva Sans"/>
                <a:ea typeface="Canva Sans"/>
                <a:cs typeface="Canva Sans"/>
                <a:sym typeface="Canva Sans"/>
              </a:rPr>
              <a:t>LEARNINGS</a:t>
            </a:r>
          </a:p>
          <a:p>
            <a:pPr algn="l" marL="0" indent="0" lvl="0">
              <a:lnSpc>
                <a:spcPts val="5414"/>
              </a:lnSpc>
            </a:pPr>
            <a:r>
              <a:rPr lang="en-US" sz="5949">
                <a:solidFill>
                  <a:srgbClr val="272C37"/>
                </a:solidFill>
                <a:latin typeface="Canva Sans"/>
                <a:ea typeface="Canva Sans"/>
                <a:cs typeface="Canva Sans"/>
                <a:sym typeface="Canva Sans"/>
              </a:rPr>
              <a:t>FROM WEEK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35685" y="1028700"/>
            <a:ext cx="192361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04"/>
              </a:lnSpc>
            </a:pPr>
            <a:r>
              <a:rPr lang="en-US" sz="2170">
                <a:solidFill>
                  <a:srgbClr val="272C37"/>
                </a:solidFill>
                <a:latin typeface="Canva Sans"/>
                <a:ea typeface="Canva Sans"/>
                <a:cs typeface="Canva Sans"/>
                <a:sym typeface="Canva Sans"/>
              </a:rPr>
              <a:t>Core</a:t>
            </a:r>
          </a:p>
          <a:p>
            <a:pPr algn="r" marL="0" indent="0" lvl="0">
              <a:lnSpc>
                <a:spcPts val="2604"/>
              </a:lnSpc>
            </a:pPr>
            <a:r>
              <a:rPr lang="en-US" sz="2170">
                <a:solidFill>
                  <a:srgbClr val="272C37"/>
                </a:solidFill>
                <a:latin typeface="Canva Sans"/>
                <a:ea typeface="Canva Sans"/>
                <a:cs typeface="Canva Sans"/>
                <a:sym typeface="Canva Sans"/>
              </a:rPr>
              <a:t>Concepts</a:t>
            </a:r>
          </a:p>
          <a:p>
            <a:pPr algn="r" marL="0" indent="0" lvl="0">
              <a:lnSpc>
                <a:spcPts val="2604"/>
              </a:lnSpc>
            </a:pPr>
            <a:r>
              <a:rPr lang="en-US" sz="2170">
                <a:solidFill>
                  <a:srgbClr val="272C37"/>
                </a:solidFill>
                <a:latin typeface="Canva Sans"/>
                <a:ea typeface="Canva Sans"/>
                <a:cs typeface="Canva Sans"/>
                <a:sym typeface="Canva Sans"/>
              </a:rPr>
              <a:t>Week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581384"/>
            <a:ext cx="270130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sz="1399">
                <a:solidFill>
                  <a:srgbClr val="272C37"/>
                </a:solidFill>
                <a:latin typeface="Telegraf"/>
                <a:ea typeface="Telegraf"/>
                <a:cs typeface="Telegraf"/>
                <a:sym typeface="Telegraf"/>
              </a:rPr>
              <a:t>Engineering Mindset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02238" y="7581384"/>
            <a:ext cx="327802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sz="1399">
                <a:solidFill>
                  <a:srgbClr val="272C37"/>
                </a:solidFill>
                <a:latin typeface="Telegraf"/>
                <a:ea typeface="Telegraf"/>
                <a:cs typeface="Telegraf"/>
                <a:sym typeface="Telegraf"/>
              </a:rPr>
              <a:t>Requirements First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68447" y="7581384"/>
            <a:ext cx="327802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sz="1399">
                <a:solidFill>
                  <a:srgbClr val="272C37"/>
                </a:solidFill>
                <a:latin typeface="Telegraf"/>
                <a:ea typeface="Telegraf"/>
                <a:cs typeface="Telegraf"/>
                <a:sym typeface="Telegraf"/>
              </a:rPr>
              <a:t>Collaboration with Git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972425"/>
            <a:ext cx="403339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sz="1399">
                <a:solidFill>
                  <a:srgbClr val="272C37"/>
                </a:solidFill>
                <a:latin typeface="Telegraf"/>
                <a:ea typeface="Telegraf"/>
                <a:cs typeface="Telegraf"/>
                <a:sym typeface="Telegraf"/>
              </a:rPr>
              <a:t>Software engineering is far more than writing code. It involves problem-solving, communication, planning, and understanding the broader system — turning ideas into reliable, maintainable solutions.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02238" y="7972425"/>
            <a:ext cx="403339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sz="1399">
                <a:solidFill>
                  <a:srgbClr val="272C37"/>
                </a:solidFill>
                <a:latin typeface="Telegraf"/>
                <a:ea typeface="Telegraf"/>
                <a:cs typeface="Telegraf"/>
                <a:sym typeface="Telegraf"/>
              </a:rPr>
              <a:t>Every feature begins with a clear understanding of the requirement. Before writing a single line of code, engineers must define the problem, clarify expectations, and align with stakeholders on the desired outcome.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68447" y="7972425"/>
            <a:ext cx="403339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sz="1399">
                <a:solidFill>
                  <a:srgbClr val="272C37"/>
                </a:solidFill>
                <a:latin typeface="Telegraf"/>
                <a:ea typeface="Telegraf"/>
                <a:cs typeface="Telegraf"/>
                <a:sym typeface="Telegraf"/>
              </a:rPr>
              <a:t>Git empowers developers to work safely and collaboratively. Version control enables teams to track changes, experiment without risk, and merge contributions seamlessly across distributed workflows.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4553464" cy="3354946"/>
            <a:chOff x="0" y="0"/>
            <a:chExt cx="705451" cy="5197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5451" cy="519769"/>
            </a:xfrm>
            <a:custGeom>
              <a:avLst/>
              <a:gdLst/>
              <a:ahLst/>
              <a:cxnLst/>
              <a:rect r="r" b="b" t="t" l="l"/>
              <a:pathLst>
                <a:path h="519769" w="705451">
                  <a:moveTo>
                    <a:pt x="39105" y="0"/>
                  </a:moveTo>
                  <a:lnTo>
                    <a:pt x="666346" y="0"/>
                  </a:lnTo>
                  <a:cubicBezTo>
                    <a:pt x="676717" y="0"/>
                    <a:pt x="686663" y="4120"/>
                    <a:pt x="693997" y="11454"/>
                  </a:cubicBezTo>
                  <a:cubicBezTo>
                    <a:pt x="701331" y="18787"/>
                    <a:pt x="705451" y="28734"/>
                    <a:pt x="705451" y="39105"/>
                  </a:cubicBezTo>
                  <a:lnTo>
                    <a:pt x="705451" y="480664"/>
                  </a:lnTo>
                  <a:cubicBezTo>
                    <a:pt x="705451" y="502261"/>
                    <a:pt x="687943" y="519769"/>
                    <a:pt x="666346" y="519769"/>
                  </a:cubicBezTo>
                  <a:lnTo>
                    <a:pt x="39105" y="519769"/>
                  </a:lnTo>
                  <a:cubicBezTo>
                    <a:pt x="17508" y="519769"/>
                    <a:pt x="0" y="502261"/>
                    <a:pt x="0" y="480664"/>
                  </a:cubicBezTo>
                  <a:lnTo>
                    <a:pt x="0" y="39105"/>
                  </a:lnTo>
                  <a:cubicBezTo>
                    <a:pt x="0" y="28734"/>
                    <a:pt x="4120" y="18787"/>
                    <a:pt x="11454" y="11454"/>
                  </a:cubicBezTo>
                  <a:cubicBezTo>
                    <a:pt x="18787" y="4120"/>
                    <a:pt x="28734" y="0"/>
                    <a:pt x="39105" y="0"/>
                  </a:cubicBezTo>
                  <a:close/>
                </a:path>
              </a:pathLst>
            </a:custGeom>
            <a:blipFill>
              <a:blip r:embed="rId2"/>
              <a:stretch>
                <a:fillRect l="-292" t="0" r="-292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119298" y="2527858"/>
            <a:ext cx="1621955" cy="887652"/>
          </a:xfrm>
          <a:custGeom>
            <a:avLst/>
            <a:gdLst/>
            <a:ahLst/>
            <a:cxnLst/>
            <a:rect r="r" b="b" t="t" l="l"/>
            <a:pathLst>
              <a:path h="887652" w="1621955">
                <a:moveTo>
                  <a:pt x="0" y="0"/>
                </a:moveTo>
                <a:lnTo>
                  <a:pt x="1621955" y="0"/>
                </a:lnTo>
                <a:lnTo>
                  <a:pt x="1621955" y="887652"/>
                </a:lnTo>
                <a:lnTo>
                  <a:pt x="0" y="8876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335685" y="6722308"/>
            <a:ext cx="1621955" cy="887652"/>
          </a:xfrm>
          <a:custGeom>
            <a:avLst/>
            <a:gdLst/>
            <a:ahLst/>
            <a:cxnLst/>
            <a:rect r="r" b="b" t="t" l="l"/>
            <a:pathLst>
              <a:path h="887652" w="1621955">
                <a:moveTo>
                  <a:pt x="0" y="0"/>
                </a:moveTo>
                <a:lnTo>
                  <a:pt x="1621955" y="0"/>
                </a:lnTo>
                <a:lnTo>
                  <a:pt x="1621955" y="887651"/>
                </a:lnTo>
                <a:lnTo>
                  <a:pt x="0" y="8876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5335" y="3420087"/>
            <a:ext cx="18723968" cy="348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55"/>
              </a:lnSpc>
              <a:spcBef>
                <a:spcPct val="0"/>
              </a:spcBef>
            </a:pPr>
            <a:r>
              <a:rPr lang="en-US" sz="116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Thank You!</a:t>
            </a:r>
          </a:p>
          <a:p>
            <a:pPr algn="l" marL="0" indent="0" lvl="0">
              <a:lnSpc>
                <a:spcPts val="13955"/>
              </a:lnSpc>
              <a:spcBef>
                <a:spcPct val="0"/>
              </a:spcBef>
            </a:pPr>
            <a:r>
              <a:rPr lang="en-US" sz="116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Rohit Raj Singh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8566349" y="-1537916"/>
            <a:ext cx="4562475" cy="456247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3725525" y="6820017"/>
            <a:ext cx="4562475" cy="456247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0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DAHUgf5BrGk</dc:identifier>
  <dcterms:modified xsi:type="dcterms:W3CDTF">2011-08-01T06:04:30Z</dcterms:modified>
  <cp:revision>1</cp:revision>
  <dc:title>Create a professional technical slide titled “How a Software System Works”. Content: User ↓ Frontend ↓ REST API ↓ Backend ↓ Business Logic ↓ Database ↓ Response Key points: • Frontend handles user interaction • REST API connects frontend and backend •</dc:title>
</cp:coreProperties>
</file>